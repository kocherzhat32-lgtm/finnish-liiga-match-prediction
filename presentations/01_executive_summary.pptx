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4" r:id="rId1"/>
  </p:sldMasterIdLst>
  <p:notesMasterIdLst>
    <p:notesMasterId r:id="rId3"/>
  </p:notesMasterIdLst>
  <p:sldIdLst>
    <p:sldId id="256" r:id="rId2"/>
  </p:sldIdLst>
  <p:sldSz cx="7772400" cy="100584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2448">
          <p15:clr>
            <a:srgbClr val="A4A3A4"/>
          </p15:clr>
        </p15:guide>
        <p15:guide id="2" orient="horz" pos="31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2" d="100"/>
          <a:sy n="72" d="100"/>
        </p:scale>
        <p:origin x="1428" y="-1096"/>
      </p:cViewPr>
      <p:guideLst>
        <p:guide pos="2448"/>
        <p:guide orient="horz" pos="316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1c77f95637b_0_0: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g1c77f95637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Layout 1" type="title">
  <p:cSld name="TITLE">
    <p:spTree>
      <p:nvGrpSpPr>
        <p:cNvPr id="1" name="Shape 10"/>
        <p:cNvGrpSpPr/>
        <p:nvPr/>
      </p:nvGrpSpPr>
      <p:grpSpPr>
        <a:xfrm>
          <a:off x="0" y="0"/>
          <a:ext cx="0" cy="0"/>
          <a:chOff x="0" y="0"/>
          <a:chExt cx="0" cy="0"/>
        </a:xfrm>
      </p:grpSpPr>
      <p:grpSp>
        <p:nvGrpSpPr>
          <p:cNvPr id="11" name="Google Shape;11;p2"/>
          <p:cNvGrpSpPr/>
          <p:nvPr/>
        </p:nvGrpSpPr>
        <p:grpSpPr>
          <a:xfrm>
            <a:off x="172055" y="1468890"/>
            <a:ext cx="7434543" cy="62982"/>
            <a:chOff x="1890075" y="5241175"/>
            <a:chExt cx="4240556" cy="257700"/>
          </a:xfrm>
        </p:grpSpPr>
        <p:sp>
          <p:nvSpPr>
            <p:cNvPr id="12" name="Google Shape;12;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3" name="Google Shape;13;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4" name="Google Shape;14;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5" name="Google Shape;15;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16" name="Google Shape;16;p2"/>
          <p:cNvSpPr/>
          <p:nvPr/>
        </p:nvSpPr>
        <p:spPr>
          <a:xfrm>
            <a:off x="172050" y="2765600"/>
            <a:ext cx="3076800" cy="7293000"/>
          </a:xfrm>
          <a:prstGeom prst="roundRect">
            <a:avLst>
              <a:gd name="adj" fmla="val 0"/>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nvGrpSpPr>
          <p:cNvPr id="17" name="Google Shape;17;p2"/>
          <p:cNvGrpSpPr/>
          <p:nvPr/>
        </p:nvGrpSpPr>
        <p:grpSpPr>
          <a:xfrm>
            <a:off x="168930" y="2702615"/>
            <a:ext cx="7434543" cy="62982"/>
            <a:chOff x="1890075" y="5241175"/>
            <a:chExt cx="4240556" cy="257700"/>
          </a:xfrm>
        </p:grpSpPr>
        <p:sp>
          <p:nvSpPr>
            <p:cNvPr id="18" name="Google Shape;18;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9" name="Google Shape;19;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0" name="Google Shape;20;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1" name="Google Shape;21;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cxnSp>
        <p:nvCxnSpPr>
          <p:cNvPr id="22" name="Google Shape;22;p2"/>
          <p:cNvCxnSpPr>
            <a:stCxn id="12" idx="0"/>
          </p:cNvCxnSpPr>
          <p:nvPr/>
        </p:nvCxnSpPr>
        <p:spPr>
          <a:xfrm>
            <a:off x="172055" y="1500381"/>
            <a:ext cx="0" cy="8590500"/>
          </a:xfrm>
          <a:prstGeom prst="straightConnector1">
            <a:avLst/>
          </a:prstGeom>
          <a:noFill/>
          <a:ln w="9525" cap="flat" cmpd="sng">
            <a:solidFill>
              <a:srgbClr val="CCCCCC"/>
            </a:solidFill>
            <a:prstDash val="solid"/>
            <a:round/>
            <a:headEnd type="none" w="med" len="med"/>
            <a:tailEnd type="none" w="med" len="med"/>
          </a:ln>
        </p:spPr>
      </p:cxnSp>
      <p:cxnSp>
        <p:nvCxnSpPr>
          <p:cNvPr id="23" name="Google Shape;23;p2"/>
          <p:cNvCxnSpPr/>
          <p:nvPr/>
        </p:nvCxnSpPr>
        <p:spPr>
          <a:xfrm>
            <a:off x="7603480" y="1500381"/>
            <a:ext cx="0" cy="8590500"/>
          </a:xfrm>
          <a:prstGeom prst="straightConnector1">
            <a:avLst/>
          </a:prstGeom>
          <a:noFill/>
          <a:ln w="9525" cap="flat" cmpd="sng">
            <a:solidFill>
              <a:srgbClr val="CCCCCC"/>
            </a:solidFill>
            <a:prstDash val="solid"/>
            <a:round/>
            <a:headEnd type="none" w="med" len="med"/>
            <a:tailEnd type="none" w="med" len="med"/>
          </a:ln>
        </p:spPr>
      </p:cxnSp>
      <p:grpSp>
        <p:nvGrpSpPr>
          <p:cNvPr id="24" name="Google Shape;24;p2"/>
          <p:cNvGrpSpPr/>
          <p:nvPr/>
        </p:nvGrpSpPr>
        <p:grpSpPr>
          <a:xfrm>
            <a:off x="0" y="3413775"/>
            <a:ext cx="3530025" cy="746350"/>
            <a:chOff x="0" y="3156075"/>
            <a:chExt cx="3530025" cy="746350"/>
          </a:xfrm>
        </p:grpSpPr>
        <p:sp>
          <p:nvSpPr>
            <p:cNvPr id="25" name="Google Shape;25;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6" name="Google Shape;26;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27" name="Google Shape;27;p2"/>
          <p:cNvGrpSpPr/>
          <p:nvPr/>
        </p:nvGrpSpPr>
        <p:grpSpPr>
          <a:xfrm>
            <a:off x="3248850" y="2867100"/>
            <a:ext cx="4936034" cy="746350"/>
            <a:chOff x="0" y="3156075"/>
            <a:chExt cx="3530025" cy="746350"/>
          </a:xfrm>
        </p:grpSpPr>
        <p:sp>
          <p:nvSpPr>
            <p:cNvPr id="28" name="Google Shape;28;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9" name="Google Shape;29;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30" name="Google Shape;30;p2"/>
          <p:cNvGrpSpPr/>
          <p:nvPr/>
        </p:nvGrpSpPr>
        <p:grpSpPr>
          <a:xfrm>
            <a:off x="3248850" y="7166275"/>
            <a:ext cx="4936034" cy="746350"/>
            <a:chOff x="0" y="3156075"/>
            <a:chExt cx="3530025" cy="746350"/>
          </a:xfrm>
        </p:grpSpPr>
        <p:sp>
          <p:nvSpPr>
            <p:cNvPr id="31" name="Google Shape;31;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32" name="Google Shape;32;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33" name="Google Shape;33;p2"/>
          <p:cNvSpPr txBox="1"/>
          <p:nvPr/>
        </p:nvSpPr>
        <p:spPr>
          <a:xfrm>
            <a:off x="188700" y="3410750"/>
            <a:ext cx="3074400" cy="4632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Key Insights </a:t>
            </a:r>
            <a:endParaRPr sz="1900">
              <a:solidFill>
                <a:schemeClr val="lt2"/>
              </a:solidFill>
              <a:latin typeface="Google Sans SemiBold"/>
              <a:ea typeface="Google Sans SemiBold"/>
              <a:cs typeface="Google Sans SemiBold"/>
              <a:sym typeface="Google Sans SemiBold"/>
            </a:endParaRPr>
          </a:p>
        </p:txBody>
      </p:sp>
      <p:sp>
        <p:nvSpPr>
          <p:cNvPr id="34" name="Google Shape;34;p2"/>
          <p:cNvSpPr txBox="1"/>
          <p:nvPr/>
        </p:nvSpPr>
        <p:spPr>
          <a:xfrm>
            <a:off x="3263100" y="2852500"/>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Details </a:t>
            </a:r>
            <a:endParaRPr sz="1900">
              <a:solidFill>
                <a:schemeClr val="lt2"/>
              </a:solidFill>
              <a:latin typeface="Google Sans SemiBold"/>
              <a:ea typeface="Google Sans SemiBold"/>
              <a:cs typeface="Google Sans SemiBold"/>
              <a:sym typeface="Google Sans SemiBold"/>
            </a:endParaRPr>
          </a:p>
        </p:txBody>
      </p:sp>
      <p:sp>
        <p:nvSpPr>
          <p:cNvPr id="35" name="Google Shape;35;p2"/>
          <p:cNvSpPr txBox="1"/>
          <p:nvPr/>
        </p:nvSpPr>
        <p:spPr>
          <a:xfrm>
            <a:off x="3263100" y="7164075"/>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Next Steps </a:t>
            </a:r>
            <a:endParaRPr sz="1900">
              <a:solidFill>
                <a:schemeClr val="lt2"/>
              </a:solidFill>
              <a:latin typeface="Google Sans SemiBold"/>
              <a:ea typeface="Google Sans SemiBold"/>
              <a:cs typeface="Google Sans SemiBold"/>
              <a:sym typeface="Google Sans SemiBold"/>
            </a:endParaRPr>
          </a:p>
        </p:txBody>
      </p:sp>
      <p:grpSp>
        <p:nvGrpSpPr>
          <p:cNvPr id="36" name="Google Shape;36;p2"/>
          <p:cNvGrpSpPr/>
          <p:nvPr/>
        </p:nvGrpSpPr>
        <p:grpSpPr>
          <a:xfrm>
            <a:off x="172055" y="1468890"/>
            <a:ext cx="7434543" cy="62982"/>
            <a:chOff x="1890075" y="5241175"/>
            <a:chExt cx="4240556" cy="257700"/>
          </a:xfrm>
        </p:grpSpPr>
        <p:sp>
          <p:nvSpPr>
            <p:cNvPr id="37" name="Google Shape;37;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8" name="Google Shape;38;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9" name="Google Shape;39;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0" name="Google Shape;40;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41" name="Google Shape;41;p2"/>
          <p:cNvSpPr/>
          <p:nvPr/>
        </p:nvSpPr>
        <p:spPr>
          <a:xfrm>
            <a:off x="172050" y="2765600"/>
            <a:ext cx="3076800" cy="7293000"/>
          </a:xfrm>
          <a:prstGeom prst="roundRect">
            <a:avLst>
              <a:gd name="adj" fmla="val 0"/>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nvGrpSpPr>
          <p:cNvPr id="42" name="Google Shape;42;p2"/>
          <p:cNvGrpSpPr/>
          <p:nvPr/>
        </p:nvGrpSpPr>
        <p:grpSpPr>
          <a:xfrm>
            <a:off x="168930" y="2702615"/>
            <a:ext cx="7434543" cy="62982"/>
            <a:chOff x="1890075" y="5241175"/>
            <a:chExt cx="4240556" cy="257700"/>
          </a:xfrm>
        </p:grpSpPr>
        <p:sp>
          <p:nvSpPr>
            <p:cNvPr id="43" name="Google Shape;43;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4" name="Google Shape;44;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5" name="Google Shape;45;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6" name="Google Shape;46;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cxnSp>
        <p:nvCxnSpPr>
          <p:cNvPr id="47" name="Google Shape;47;p2"/>
          <p:cNvCxnSpPr>
            <a:stCxn id="37" idx="0"/>
          </p:cNvCxnSpPr>
          <p:nvPr/>
        </p:nvCxnSpPr>
        <p:spPr>
          <a:xfrm>
            <a:off x="172055" y="1500381"/>
            <a:ext cx="0" cy="8590500"/>
          </a:xfrm>
          <a:prstGeom prst="straightConnector1">
            <a:avLst/>
          </a:prstGeom>
          <a:noFill/>
          <a:ln w="9525" cap="flat" cmpd="sng">
            <a:solidFill>
              <a:srgbClr val="CCCCCC"/>
            </a:solidFill>
            <a:prstDash val="solid"/>
            <a:round/>
            <a:headEnd type="none" w="med" len="med"/>
            <a:tailEnd type="none" w="med" len="med"/>
          </a:ln>
        </p:spPr>
      </p:cxnSp>
      <p:cxnSp>
        <p:nvCxnSpPr>
          <p:cNvPr id="48" name="Google Shape;48;p2"/>
          <p:cNvCxnSpPr/>
          <p:nvPr/>
        </p:nvCxnSpPr>
        <p:spPr>
          <a:xfrm>
            <a:off x="7603480" y="1500381"/>
            <a:ext cx="0" cy="8590500"/>
          </a:xfrm>
          <a:prstGeom prst="straightConnector1">
            <a:avLst/>
          </a:prstGeom>
          <a:noFill/>
          <a:ln w="9525" cap="flat" cmpd="sng">
            <a:solidFill>
              <a:srgbClr val="CCCCCC"/>
            </a:solidFill>
            <a:prstDash val="solid"/>
            <a:round/>
            <a:headEnd type="none" w="med" len="med"/>
            <a:tailEnd type="none" w="med" len="med"/>
          </a:ln>
        </p:spPr>
      </p:cxnSp>
      <p:grpSp>
        <p:nvGrpSpPr>
          <p:cNvPr id="49" name="Google Shape;49;p2"/>
          <p:cNvGrpSpPr/>
          <p:nvPr/>
        </p:nvGrpSpPr>
        <p:grpSpPr>
          <a:xfrm>
            <a:off x="0" y="3413775"/>
            <a:ext cx="3530025" cy="746350"/>
            <a:chOff x="0" y="3156075"/>
            <a:chExt cx="3530025" cy="746350"/>
          </a:xfrm>
        </p:grpSpPr>
        <p:sp>
          <p:nvSpPr>
            <p:cNvPr id="50" name="Google Shape;50;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51" name="Google Shape;51;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52" name="Google Shape;52;p2"/>
          <p:cNvGrpSpPr/>
          <p:nvPr/>
        </p:nvGrpSpPr>
        <p:grpSpPr>
          <a:xfrm>
            <a:off x="3248850" y="2867100"/>
            <a:ext cx="4936034" cy="746350"/>
            <a:chOff x="0" y="3156075"/>
            <a:chExt cx="3530025" cy="746350"/>
          </a:xfrm>
        </p:grpSpPr>
        <p:sp>
          <p:nvSpPr>
            <p:cNvPr id="53" name="Google Shape;53;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54" name="Google Shape;54;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55" name="Google Shape;55;p2"/>
          <p:cNvGrpSpPr/>
          <p:nvPr/>
        </p:nvGrpSpPr>
        <p:grpSpPr>
          <a:xfrm>
            <a:off x="3248850" y="7166275"/>
            <a:ext cx="4936034" cy="746350"/>
            <a:chOff x="0" y="3156075"/>
            <a:chExt cx="3530025" cy="746350"/>
          </a:xfrm>
        </p:grpSpPr>
        <p:sp>
          <p:nvSpPr>
            <p:cNvPr id="56" name="Google Shape;56;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57" name="Google Shape;57;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58" name="Google Shape;58;p2"/>
          <p:cNvSpPr txBox="1"/>
          <p:nvPr/>
        </p:nvSpPr>
        <p:spPr>
          <a:xfrm>
            <a:off x="188700" y="3410750"/>
            <a:ext cx="3074400" cy="4632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Key Insights </a:t>
            </a:r>
            <a:endParaRPr sz="1900">
              <a:solidFill>
                <a:srgbClr val="EEEEEE"/>
              </a:solidFill>
              <a:latin typeface="Google Sans SemiBold"/>
              <a:ea typeface="Google Sans SemiBold"/>
              <a:cs typeface="Google Sans SemiBold"/>
              <a:sym typeface="Google Sans SemiBold"/>
            </a:endParaRPr>
          </a:p>
        </p:txBody>
      </p:sp>
      <p:sp>
        <p:nvSpPr>
          <p:cNvPr id="59" name="Google Shape;59;p2"/>
          <p:cNvSpPr txBox="1"/>
          <p:nvPr/>
        </p:nvSpPr>
        <p:spPr>
          <a:xfrm>
            <a:off x="3263100" y="2852500"/>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Details </a:t>
            </a:r>
            <a:endParaRPr sz="1900">
              <a:solidFill>
                <a:srgbClr val="EEEEEE"/>
              </a:solidFill>
              <a:latin typeface="Google Sans SemiBold"/>
              <a:ea typeface="Google Sans SemiBold"/>
              <a:cs typeface="Google Sans SemiBold"/>
              <a:sym typeface="Google Sans SemiBold"/>
            </a:endParaRPr>
          </a:p>
        </p:txBody>
      </p:sp>
      <p:sp>
        <p:nvSpPr>
          <p:cNvPr id="60" name="Google Shape;60;p2"/>
          <p:cNvSpPr txBox="1"/>
          <p:nvPr/>
        </p:nvSpPr>
        <p:spPr>
          <a:xfrm>
            <a:off x="3263100" y="7164075"/>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Next Steps </a:t>
            </a:r>
            <a:endParaRPr sz="1900">
              <a:solidFill>
                <a:srgbClr val="EEEEEE"/>
              </a:solidFill>
              <a:latin typeface="Google Sans SemiBold"/>
              <a:ea typeface="Google Sans SemiBold"/>
              <a:cs typeface="Google Sans SemiBold"/>
              <a:sym typeface="Google Sans SemiBold"/>
            </a:endParaRPr>
          </a:p>
        </p:txBody>
      </p:sp>
      <p:sp>
        <p:nvSpPr>
          <p:cNvPr id="61" name="Google Shape;61;p2"/>
          <p:cNvSpPr>
            <a:spLocks noGrp="1"/>
          </p:cNvSpPr>
          <p:nvPr>
            <p:ph type="pic" idx="2"/>
          </p:nvPr>
        </p:nvSpPr>
        <p:spPr>
          <a:xfrm>
            <a:off x="4583375" y="3389400"/>
            <a:ext cx="3035400" cy="2495700"/>
          </a:xfrm>
          <a:prstGeom prst="rect">
            <a:avLst/>
          </a:prstGeom>
          <a:noFill/>
          <a:ln w="19050" cap="flat" cmpd="sng">
            <a:solidFill>
              <a:srgbClr val="000000"/>
            </a:solidFill>
            <a:prstDash val="solid"/>
            <a:round/>
            <a:headEnd type="none" w="sm" len="sm"/>
            <a:tailEnd type="none" w="sm" len="sm"/>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Layout 2">
  <p:cSld name="TITLE_1">
    <p:spTree>
      <p:nvGrpSpPr>
        <p:cNvPr id="1" name="Shape 62"/>
        <p:cNvGrpSpPr/>
        <p:nvPr/>
      </p:nvGrpSpPr>
      <p:grpSpPr>
        <a:xfrm>
          <a:off x="0" y="0"/>
          <a:ext cx="0" cy="0"/>
          <a:chOff x="0" y="0"/>
          <a:chExt cx="0" cy="0"/>
        </a:xfrm>
      </p:grpSpPr>
      <p:cxnSp>
        <p:nvCxnSpPr>
          <p:cNvPr id="63" name="Google Shape;63;p3"/>
          <p:cNvCxnSpPr>
            <a:stCxn id="64" idx="1"/>
          </p:cNvCxnSpPr>
          <p:nvPr/>
        </p:nvCxnSpPr>
        <p:spPr>
          <a:xfrm>
            <a:off x="3033472" y="937660"/>
            <a:ext cx="15900" cy="6568200"/>
          </a:xfrm>
          <a:prstGeom prst="straightConnector1">
            <a:avLst/>
          </a:prstGeom>
          <a:noFill/>
          <a:ln w="9525" cap="flat" cmpd="sng">
            <a:solidFill>
              <a:srgbClr val="CCCCCC"/>
            </a:solidFill>
            <a:prstDash val="solid"/>
            <a:round/>
            <a:headEnd type="none" w="med" len="med"/>
            <a:tailEnd type="none" w="med" len="med"/>
          </a:ln>
        </p:spPr>
      </p:cxnSp>
      <p:grpSp>
        <p:nvGrpSpPr>
          <p:cNvPr id="65" name="Google Shape;65;p3"/>
          <p:cNvGrpSpPr/>
          <p:nvPr/>
        </p:nvGrpSpPr>
        <p:grpSpPr>
          <a:xfrm>
            <a:off x="190345" y="900758"/>
            <a:ext cx="7581747" cy="5906"/>
            <a:chOff x="1890075" y="5241175"/>
            <a:chExt cx="4240556" cy="257700"/>
          </a:xfrm>
        </p:grpSpPr>
        <p:sp>
          <p:nvSpPr>
            <p:cNvPr id="66" name="Google Shape;66;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67" name="Google Shape;67;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68" name="Google Shape;68;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69" name="Google Shape;69;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70" name="Google Shape;70;p3"/>
          <p:cNvGrpSpPr/>
          <p:nvPr/>
        </p:nvGrpSpPr>
        <p:grpSpPr>
          <a:xfrm>
            <a:off x="190320" y="931759"/>
            <a:ext cx="7581691" cy="5901"/>
            <a:chOff x="1890075" y="5241175"/>
            <a:chExt cx="4240556" cy="257700"/>
          </a:xfrm>
        </p:grpSpPr>
        <p:sp>
          <p:nvSpPr>
            <p:cNvPr id="71" name="Google Shape;71;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2" name="Google Shape;72;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3" name="Google Shape;73;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4" name="Google Shape;74;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75" name="Google Shape;75;p3"/>
          <p:cNvSpPr/>
          <p:nvPr/>
        </p:nvSpPr>
        <p:spPr>
          <a:xfrm rot="248910">
            <a:off x="7469568" y="-16320"/>
            <a:ext cx="1791494" cy="10540289"/>
          </a:xfrm>
          <a:prstGeom prst="rtTriangle">
            <a:avLst/>
          </a:prstGeom>
          <a:solidFill>
            <a:srgbClr val="B7B7B7"/>
          </a:solidFill>
          <a:ln w="9525" cap="flat" cmpd="sng">
            <a:solidFill>
              <a:srgbClr val="CFB99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FB991"/>
              </a:solidFill>
            </a:endParaRPr>
          </a:p>
        </p:txBody>
      </p:sp>
      <p:sp>
        <p:nvSpPr>
          <p:cNvPr id="76" name="Google Shape;76;p3"/>
          <p:cNvSpPr>
            <a:spLocks noGrp="1"/>
          </p:cNvSpPr>
          <p:nvPr>
            <p:ph type="pic" idx="2"/>
          </p:nvPr>
        </p:nvSpPr>
        <p:spPr>
          <a:xfrm>
            <a:off x="3552088" y="1473363"/>
            <a:ext cx="3035400" cy="2495700"/>
          </a:xfrm>
          <a:prstGeom prst="rect">
            <a:avLst/>
          </a:prstGeom>
          <a:noFill/>
          <a:ln w="19050" cap="flat" cmpd="sng">
            <a:solidFill>
              <a:srgbClr val="000000"/>
            </a:solidFill>
            <a:prstDash val="solid"/>
            <a:round/>
            <a:headEnd type="none" w="sm" len="sm"/>
            <a:tailEnd type="none" w="sm" len="sm"/>
          </a:ln>
        </p:spPr>
        <p:txBody>
          <a:bodyPr/>
          <a:lstStyle/>
          <a:p>
            <a:endParaRPr lang="en-FI"/>
          </a:p>
        </p:txBody>
      </p:sp>
      <p:sp>
        <p:nvSpPr>
          <p:cNvPr id="77" name="Google Shape;77;p3"/>
          <p:cNvSpPr txBox="1"/>
          <p:nvPr/>
        </p:nvSpPr>
        <p:spPr>
          <a:xfrm>
            <a:off x="510050" y="9659903"/>
            <a:ext cx="30816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endParaRPr sz="1100" i="1">
              <a:solidFill>
                <a:srgbClr val="000000"/>
              </a:solidFill>
              <a:latin typeface="Calibri"/>
              <a:ea typeface="Calibri"/>
              <a:cs typeface="Calibri"/>
              <a:sym typeface="Calibri"/>
            </a:endParaRPr>
          </a:p>
        </p:txBody>
      </p:sp>
      <p:sp>
        <p:nvSpPr>
          <p:cNvPr id="78" name="Google Shape;78;p3"/>
          <p:cNvSpPr/>
          <p:nvPr/>
        </p:nvSpPr>
        <p:spPr>
          <a:xfrm>
            <a:off x="159875" y="7502350"/>
            <a:ext cx="7612200" cy="23793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9" name="Google Shape;79;p3"/>
          <p:cNvGrpSpPr/>
          <p:nvPr/>
        </p:nvGrpSpPr>
        <p:grpSpPr>
          <a:xfrm>
            <a:off x="190320" y="900657"/>
            <a:ext cx="7581691" cy="5901"/>
            <a:chOff x="1890075" y="5241175"/>
            <a:chExt cx="4240556" cy="257700"/>
          </a:xfrm>
        </p:grpSpPr>
        <p:sp>
          <p:nvSpPr>
            <p:cNvPr id="80" name="Google Shape;80;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81" name="Google Shape;81;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82" name="Google Shape;82;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83" name="Google Shape;83;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84" name="Google Shape;84;p3"/>
          <p:cNvGrpSpPr/>
          <p:nvPr/>
        </p:nvGrpSpPr>
        <p:grpSpPr>
          <a:xfrm>
            <a:off x="190320" y="931759"/>
            <a:ext cx="7581691" cy="5901"/>
            <a:chOff x="1890075" y="5241175"/>
            <a:chExt cx="4240556" cy="257700"/>
          </a:xfrm>
        </p:grpSpPr>
        <p:sp>
          <p:nvSpPr>
            <p:cNvPr id="85" name="Google Shape;85;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64" name="Google Shape;64;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86" name="Google Shape;86;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87" name="Google Shape;87;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88" name="Google Shape;88;p3"/>
          <p:cNvSpPr/>
          <p:nvPr/>
        </p:nvSpPr>
        <p:spPr>
          <a:xfrm rot="248910">
            <a:off x="7469568" y="-16320"/>
            <a:ext cx="1791494" cy="10540289"/>
          </a:xfrm>
          <a:prstGeom prst="rtTriangle">
            <a:avLst/>
          </a:prstGeom>
          <a:solidFill>
            <a:srgbClr val="5757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FB991"/>
              </a:solidFill>
            </a:endParaRPr>
          </a:p>
        </p:txBody>
      </p:sp>
      <p:sp>
        <p:nvSpPr>
          <p:cNvPr id="89" name="Google Shape;89;p3"/>
          <p:cNvSpPr txBox="1"/>
          <p:nvPr/>
        </p:nvSpPr>
        <p:spPr>
          <a:xfrm>
            <a:off x="290394" y="934500"/>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ISSUE / PROBLEM</a:t>
            </a:r>
            <a:endParaRPr sz="1500">
              <a:latin typeface="Work Sans"/>
              <a:ea typeface="Work Sans"/>
              <a:cs typeface="Work Sans"/>
              <a:sym typeface="Work Sans"/>
            </a:endParaRPr>
          </a:p>
        </p:txBody>
      </p:sp>
      <p:grpSp>
        <p:nvGrpSpPr>
          <p:cNvPr id="90" name="Google Shape;90;p3"/>
          <p:cNvGrpSpPr/>
          <p:nvPr/>
        </p:nvGrpSpPr>
        <p:grpSpPr>
          <a:xfrm>
            <a:off x="172024" y="1040825"/>
            <a:ext cx="137818" cy="187200"/>
            <a:chOff x="507100" y="1997600"/>
            <a:chExt cx="158375" cy="187200"/>
          </a:xfrm>
        </p:grpSpPr>
        <p:sp>
          <p:nvSpPr>
            <p:cNvPr id="91" name="Google Shape;91;p3"/>
            <p:cNvSpPr/>
            <p:nvPr/>
          </p:nvSpPr>
          <p:spPr>
            <a:xfrm>
              <a:off x="529575" y="1997600"/>
              <a:ext cx="135900" cy="187200"/>
            </a:xfrm>
            <a:prstGeom prst="chevron">
              <a:avLst>
                <a:gd name="adj" fmla="val 50000"/>
              </a:avLst>
            </a:prstGeom>
            <a:solidFill>
              <a:srgbClr val="00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3"/>
            <p:cNvSpPr/>
            <p:nvPr/>
          </p:nvSpPr>
          <p:spPr>
            <a:xfrm>
              <a:off x="507100" y="2017025"/>
              <a:ext cx="135900" cy="146700"/>
            </a:xfrm>
            <a:prstGeom prst="chevron">
              <a:avLst>
                <a:gd name="adj" fmla="val 50000"/>
              </a:avLst>
            </a:prstGeom>
            <a:solidFill>
              <a:srgbClr val="4069DD"/>
            </a:solidFill>
            <a:ln w="9525" cap="flat" cmpd="sng">
              <a:solidFill>
                <a:srgbClr val="4069D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3" name="Google Shape;93;p3"/>
          <p:cNvSpPr txBox="1"/>
          <p:nvPr/>
        </p:nvSpPr>
        <p:spPr>
          <a:xfrm>
            <a:off x="308719" y="2801400"/>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RESPONSE </a:t>
            </a:r>
            <a:endParaRPr sz="1500">
              <a:latin typeface="Work Sans"/>
              <a:ea typeface="Work Sans"/>
              <a:cs typeface="Work Sans"/>
              <a:sym typeface="Work Sans"/>
            </a:endParaRPr>
          </a:p>
        </p:txBody>
      </p:sp>
      <p:grpSp>
        <p:nvGrpSpPr>
          <p:cNvPr id="94" name="Google Shape;94;p3"/>
          <p:cNvGrpSpPr/>
          <p:nvPr/>
        </p:nvGrpSpPr>
        <p:grpSpPr>
          <a:xfrm>
            <a:off x="190349" y="2907725"/>
            <a:ext cx="137818" cy="187200"/>
            <a:chOff x="507100" y="1540400"/>
            <a:chExt cx="158375" cy="187200"/>
          </a:xfrm>
        </p:grpSpPr>
        <p:sp>
          <p:nvSpPr>
            <p:cNvPr id="95" name="Google Shape;95;p3"/>
            <p:cNvSpPr/>
            <p:nvPr/>
          </p:nvSpPr>
          <p:spPr>
            <a:xfrm>
              <a:off x="529575" y="1540400"/>
              <a:ext cx="135900" cy="187200"/>
            </a:xfrm>
            <a:prstGeom prst="chevron">
              <a:avLst>
                <a:gd name="adj" fmla="val 50000"/>
              </a:avLst>
            </a:prstGeom>
            <a:solidFill>
              <a:srgbClr val="FF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3"/>
            <p:cNvSpPr/>
            <p:nvPr/>
          </p:nvSpPr>
          <p:spPr>
            <a:xfrm>
              <a:off x="507100" y="1559825"/>
              <a:ext cx="135900" cy="146700"/>
            </a:xfrm>
            <a:prstGeom prst="chevron">
              <a:avLst>
                <a:gd name="adj" fmla="val 50000"/>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7" name="Google Shape;97;p3"/>
          <p:cNvSpPr txBox="1"/>
          <p:nvPr/>
        </p:nvSpPr>
        <p:spPr>
          <a:xfrm>
            <a:off x="290394" y="5399875"/>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IMPACT  </a:t>
            </a:r>
            <a:endParaRPr sz="1500">
              <a:latin typeface="Work Sans"/>
              <a:ea typeface="Work Sans"/>
              <a:cs typeface="Work Sans"/>
              <a:sym typeface="Work Sans"/>
            </a:endParaRPr>
          </a:p>
        </p:txBody>
      </p:sp>
      <p:grpSp>
        <p:nvGrpSpPr>
          <p:cNvPr id="98" name="Google Shape;98;p3"/>
          <p:cNvGrpSpPr/>
          <p:nvPr/>
        </p:nvGrpSpPr>
        <p:grpSpPr>
          <a:xfrm>
            <a:off x="172024" y="5506200"/>
            <a:ext cx="137818" cy="187200"/>
            <a:chOff x="507100" y="1997600"/>
            <a:chExt cx="158375" cy="187200"/>
          </a:xfrm>
        </p:grpSpPr>
        <p:sp>
          <p:nvSpPr>
            <p:cNvPr id="99" name="Google Shape;99;p3"/>
            <p:cNvSpPr/>
            <p:nvPr/>
          </p:nvSpPr>
          <p:spPr>
            <a:xfrm>
              <a:off x="529575" y="1997600"/>
              <a:ext cx="135900" cy="187200"/>
            </a:xfrm>
            <a:prstGeom prst="chevron">
              <a:avLst>
                <a:gd name="adj" fmla="val 50000"/>
              </a:avLst>
            </a:prstGeom>
            <a:solidFill>
              <a:srgbClr val="F4B4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3"/>
            <p:cNvSpPr/>
            <p:nvPr/>
          </p:nvSpPr>
          <p:spPr>
            <a:xfrm>
              <a:off x="507100" y="2017025"/>
              <a:ext cx="135900" cy="146700"/>
            </a:xfrm>
            <a:prstGeom prst="chevron">
              <a:avLst>
                <a:gd name="adj" fmla="val 50000"/>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1" name="Google Shape;101;p3"/>
          <p:cNvSpPr txBox="1"/>
          <p:nvPr/>
        </p:nvSpPr>
        <p:spPr>
          <a:xfrm>
            <a:off x="-2480800" y="9126503"/>
            <a:ext cx="30816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endParaRPr sz="1100" i="1">
              <a:solidFill>
                <a:srgbClr val="000000"/>
              </a:solidFill>
              <a:latin typeface="Calibri"/>
              <a:ea typeface="Calibri"/>
              <a:cs typeface="Calibri"/>
              <a:sym typeface="Calibri"/>
            </a:endParaRPr>
          </a:p>
        </p:txBody>
      </p:sp>
      <p:sp>
        <p:nvSpPr>
          <p:cNvPr id="102" name="Google Shape;102;p3"/>
          <p:cNvSpPr txBox="1"/>
          <p:nvPr/>
        </p:nvSpPr>
        <p:spPr>
          <a:xfrm>
            <a:off x="315596" y="7502355"/>
            <a:ext cx="62733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KEY INSIGHTS</a:t>
            </a:r>
            <a:endParaRPr sz="1500">
              <a:latin typeface="Work Sans"/>
              <a:ea typeface="Work Sans"/>
              <a:cs typeface="Work Sans"/>
              <a:sym typeface="Work Sans"/>
            </a:endParaRPr>
          </a:p>
        </p:txBody>
      </p:sp>
      <p:grpSp>
        <p:nvGrpSpPr>
          <p:cNvPr id="103" name="Google Shape;103;p3"/>
          <p:cNvGrpSpPr/>
          <p:nvPr/>
        </p:nvGrpSpPr>
        <p:grpSpPr>
          <a:xfrm>
            <a:off x="172024" y="7607808"/>
            <a:ext cx="137818" cy="187200"/>
            <a:chOff x="507100" y="1997600"/>
            <a:chExt cx="158375" cy="187200"/>
          </a:xfrm>
        </p:grpSpPr>
        <p:sp>
          <p:nvSpPr>
            <p:cNvPr id="104" name="Google Shape;104;p3"/>
            <p:cNvSpPr/>
            <p:nvPr/>
          </p:nvSpPr>
          <p:spPr>
            <a:xfrm>
              <a:off x="529575" y="1997600"/>
              <a:ext cx="135900" cy="187200"/>
            </a:xfrm>
            <a:prstGeom prst="chevron">
              <a:avLst>
                <a:gd name="adj" fmla="val 50000"/>
              </a:avLst>
            </a:prstGeom>
            <a:solidFill>
              <a:srgbClr val="0F9D5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3"/>
            <p:cNvSpPr/>
            <p:nvPr/>
          </p:nvSpPr>
          <p:spPr>
            <a:xfrm>
              <a:off x="507100" y="2017025"/>
              <a:ext cx="135900" cy="146700"/>
            </a:xfrm>
            <a:prstGeom prst="chevron">
              <a:avLst>
                <a:gd name="adj" fmla="val 50000"/>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6" name="Google Shape;106;p3"/>
          <p:cNvSpPr>
            <a:spLocks noGrp="1"/>
          </p:cNvSpPr>
          <p:nvPr>
            <p:ph type="pic" idx="3"/>
          </p:nvPr>
        </p:nvSpPr>
        <p:spPr>
          <a:xfrm>
            <a:off x="4054775" y="4659950"/>
            <a:ext cx="3035400" cy="2495700"/>
          </a:xfrm>
          <a:prstGeom prst="rect">
            <a:avLst/>
          </a:prstGeom>
          <a:noFill/>
          <a:ln w="19050" cap="flat" cmpd="sng">
            <a:solidFill>
              <a:srgbClr val="000000"/>
            </a:solidFill>
            <a:prstDash val="solid"/>
            <a:round/>
            <a:headEnd type="none" w="sm" len="sm"/>
            <a:tailEnd type="none" w="sm" len="sm"/>
          </a:ln>
        </p:spPr>
        <p:txBody>
          <a:bodyPr/>
          <a:lstStyle/>
          <a:p>
            <a:endParaRPr lang="en-FI"/>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Layout 3">
  <p:cSld name="CUSTOM_2_1">
    <p:spTree>
      <p:nvGrpSpPr>
        <p:cNvPr id="1" name="Shape 107"/>
        <p:cNvGrpSpPr/>
        <p:nvPr/>
      </p:nvGrpSpPr>
      <p:grpSpPr>
        <a:xfrm>
          <a:off x="0" y="0"/>
          <a:ext cx="0" cy="0"/>
          <a:chOff x="0" y="0"/>
          <a:chExt cx="0" cy="0"/>
        </a:xfrm>
      </p:grpSpPr>
      <p:cxnSp>
        <p:nvCxnSpPr>
          <p:cNvPr id="108" name="Google Shape;108;p4"/>
          <p:cNvCxnSpPr/>
          <p:nvPr/>
        </p:nvCxnSpPr>
        <p:spPr>
          <a:xfrm>
            <a:off x="417963" y="311025"/>
            <a:ext cx="28200" cy="8777100"/>
          </a:xfrm>
          <a:prstGeom prst="straightConnector1">
            <a:avLst/>
          </a:prstGeom>
          <a:noFill/>
          <a:ln w="9525" cap="flat" cmpd="sng">
            <a:solidFill>
              <a:srgbClr val="B7B7B7"/>
            </a:solidFill>
            <a:prstDash val="solid"/>
            <a:round/>
            <a:headEnd type="none" w="med" len="med"/>
            <a:tailEnd type="none" w="med" len="med"/>
          </a:ln>
        </p:spPr>
      </p:cxnSp>
      <p:grpSp>
        <p:nvGrpSpPr>
          <p:cNvPr id="109" name="Google Shape;109;p4"/>
          <p:cNvGrpSpPr/>
          <p:nvPr/>
        </p:nvGrpSpPr>
        <p:grpSpPr>
          <a:xfrm>
            <a:off x="404725" y="1300475"/>
            <a:ext cx="6908400" cy="72025"/>
            <a:chOff x="404725" y="1681475"/>
            <a:chExt cx="6908400" cy="72025"/>
          </a:xfrm>
        </p:grpSpPr>
        <p:cxnSp>
          <p:nvCxnSpPr>
            <p:cNvPr id="110" name="Google Shape;110;p4"/>
            <p:cNvCxnSpPr/>
            <p:nvPr/>
          </p:nvCxnSpPr>
          <p:spPr>
            <a:xfrm rot="10800000" flipH="1">
              <a:off x="404725" y="1681475"/>
              <a:ext cx="6908400" cy="16800"/>
            </a:xfrm>
            <a:prstGeom prst="straightConnector1">
              <a:avLst/>
            </a:prstGeom>
            <a:noFill/>
            <a:ln w="38100" cap="flat" cmpd="sng">
              <a:solidFill>
                <a:srgbClr val="666666"/>
              </a:solidFill>
              <a:prstDash val="solid"/>
              <a:round/>
              <a:headEnd type="none" w="med" len="med"/>
              <a:tailEnd type="none" w="med" len="med"/>
            </a:ln>
          </p:spPr>
        </p:cxnSp>
        <p:cxnSp>
          <p:nvCxnSpPr>
            <p:cNvPr id="111" name="Google Shape;111;p4"/>
            <p:cNvCxnSpPr/>
            <p:nvPr/>
          </p:nvCxnSpPr>
          <p:spPr>
            <a:xfrm rot="10800000" flipH="1">
              <a:off x="404725" y="1736700"/>
              <a:ext cx="6908400" cy="16800"/>
            </a:xfrm>
            <a:prstGeom prst="straightConnector1">
              <a:avLst/>
            </a:prstGeom>
            <a:noFill/>
            <a:ln w="38100" cap="flat" cmpd="sng">
              <a:solidFill>
                <a:srgbClr val="666666"/>
              </a:solidFill>
              <a:prstDash val="solid"/>
              <a:round/>
              <a:headEnd type="none" w="med" len="med"/>
              <a:tailEnd type="none" w="med" len="med"/>
            </a:ln>
          </p:spPr>
        </p:cxnSp>
      </p:grpSp>
      <p:cxnSp>
        <p:nvCxnSpPr>
          <p:cNvPr id="112" name="Google Shape;112;p4"/>
          <p:cNvCxnSpPr/>
          <p:nvPr/>
        </p:nvCxnSpPr>
        <p:spPr>
          <a:xfrm>
            <a:off x="7326238" y="6225"/>
            <a:ext cx="28200" cy="8777100"/>
          </a:xfrm>
          <a:prstGeom prst="straightConnector1">
            <a:avLst/>
          </a:prstGeom>
          <a:noFill/>
          <a:ln w="9525" cap="flat" cmpd="sng">
            <a:solidFill>
              <a:srgbClr val="B7B7B7"/>
            </a:solidFill>
            <a:prstDash val="solid"/>
            <a:round/>
            <a:headEnd type="none" w="med" len="med"/>
            <a:tailEnd type="none" w="med" len="med"/>
          </a:ln>
        </p:spPr>
      </p:cxnSp>
      <p:cxnSp>
        <p:nvCxnSpPr>
          <p:cNvPr id="113" name="Google Shape;113;p4"/>
          <p:cNvCxnSpPr/>
          <p:nvPr/>
        </p:nvCxnSpPr>
        <p:spPr>
          <a:xfrm rot="10800000">
            <a:off x="438150" y="3276600"/>
            <a:ext cx="6896100" cy="0"/>
          </a:xfrm>
          <a:prstGeom prst="straightConnector1">
            <a:avLst/>
          </a:prstGeom>
          <a:noFill/>
          <a:ln w="9525" cap="flat" cmpd="sng">
            <a:solidFill>
              <a:srgbClr val="CCCCCC"/>
            </a:solidFill>
            <a:prstDash val="solid"/>
            <a:round/>
            <a:headEnd type="none" w="med" len="med"/>
            <a:tailEnd type="none" w="med" len="med"/>
          </a:ln>
        </p:spPr>
      </p:cxnSp>
      <p:cxnSp>
        <p:nvCxnSpPr>
          <p:cNvPr id="114" name="Google Shape;114;p4"/>
          <p:cNvCxnSpPr/>
          <p:nvPr/>
        </p:nvCxnSpPr>
        <p:spPr>
          <a:xfrm>
            <a:off x="3861475" y="3505200"/>
            <a:ext cx="0" cy="5611800"/>
          </a:xfrm>
          <a:prstGeom prst="straightConnector1">
            <a:avLst/>
          </a:prstGeom>
          <a:noFill/>
          <a:ln w="9525" cap="flat" cmpd="sng">
            <a:solidFill>
              <a:srgbClr val="B7B7B7"/>
            </a:solidFill>
            <a:prstDash val="solid"/>
            <a:round/>
            <a:headEnd type="none" w="med" len="med"/>
            <a:tailEnd type="none" w="med" len="med"/>
          </a:ln>
        </p:spPr>
      </p:cxnSp>
      <p:grpSp>
        <p:nvGrpSpPr>
          <p:cNvPr id="115" name="Google Shape;115;p4"/>
          <p:cNvGrpSpPr/>
          <p:nvPr/>
        </p:nvGrpSpPr>
        <p:grpSpPr>
          <a:xfrm>
            <a:off x="417975" y="1504250"/>
            <a:ext cx="2357775" cy="410125"/>
            <a:chOff x="417975" y="1885250"/>
            <a:chExt cx="2357775" cy="410125"/>
          </a:xfrm>
        </p:grpSpPr>
        <p:sp>
          <p:nvSpPr>
            <p:cNvPr id="116" name="Google Shape;116;p4"/>
            <p:cNvSpPr/>
            <p:nvPr/>
          </p:nvSpPr>
          <p:spPr>
            <a:xfrm>
              <a:off x="417975" y="1885250"/>
              <a:ext cx="2020800" cy="410100"/>
            </a:xfrm>
            <a:prstGeom prst="rect">
              <a:avLst/>
            </a:prstGeom>
            <a:solidFill>
              <a:srgbClr val="595959"/>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4"/>
            <p:cNvSpPr/>
            <p:nvPr/>
          </p:nvSpPr>
          <p:spPr>
            <a:xfrm rot="10800000">
              <a:off x="2236350" y="1885875"/>
              <a:ext cx="539400" cy="409500"/>
            </a:xfrm>
            <a:prstGeom prst="chevron">
              <a:avLst>
                <a:gd name="adj" fmla="val 50000"/>
              </a:avLst>
            </a:prstGeom>
            <a:solidFill>
              <a:srgbClr val="595959"/>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4"/>
            <p:cNvSpPr/>
            <p:nvPr/>
          </p:nvSpPr>
          <p:spPr>
            <a:xfrm>
              <a:off x="446175" y="1905300"/>
              <a:ext cx="1946700" cy="364200"/>
            </a:xfrm>
            <a:prstGeom prst="rect">
              <a:avLst/>
            </a:prstGeom>
            <a:solidFill>
              <a:srgbClr val="B7B7B7"/>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4"/>
            <p:cNvSpPr/>
            <p:nvPr/>
          </p:nvSpPr>
          <p:spPr>
            <a:xfrm rot="10800000">
              <a:off x="2198100" y="1906000"/>
              <a:ext cx="519600" cy="363600"/>
            </a:xfrm>
            <a:prstGeom prst="chevron">
              <a:avLst>
                <a:gd name="adj" fmla="val 50000"/>
              </a:avLst>
            </a:prstGeom>
            <a:solidFill>
              <a:srgbClr val="B7B7B7"/>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 name="Google Shape;120;p4"/>
          <p:cNvGrpSpPr/>
          <p:nvPr/>
        </p:nvGrpSpPr>
        <p:grpSpPr>
          <a:xfrm>
            <a:off x="417975" y="3276600"/>
            <a:ext cx="2357775" cy="410125"/>
            <a:chOff x="265575" y="3352800"/>
            <a:chExt cx="2357775" cy="410125"/>
          </a:xfrm>
        </p:grpSpPr>
        <p:sp>
          <p:nvSpPr>
            <p:cNvPr id="121" name="Google Shape;121;p4"/>
            <p:cNvSpPr/>
            <p:nvPr/>
          </p:nvSpPr>
          <p:spPr>
            <a:xfrm>
              <a:off x="265575" y="3352800"/>
              <a:ext cx="2020800" cy="410100"/>
            </a:xfrm>
            <a:prstGeom prst="rect">
              <a:avLst/>
            </a:prstGeom>
            <a:solidFill>
              <a:srgbClr val="595959"/>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4"/>
            <p:cNvSpPr/>
            <p:nvPr/>
          </p:nvSpPr>
          <p:spPr>
            <a:xfrm rot="10800000">
              <a:off x="2083950" y="3353425"/>
              <a:ext cx="539400" cy="409500"/>
            </a:xfrm>
            <a:prstGeom prst="chevron">
              <a:avLst>
                <a:gd name="adj" fmla="val 50000"/>
              </a:avLst>
            </a:prstGeom>
            <a:solidFill>
              <a:srgbClr val="595959"/>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4"/>
            <p:cNvSpPr/>
            <p:nvPr/>
          </p:nvSpPr>
          <p:spPr>
            <a:xfrm>
              <a:off x="293775" y="3372850"/>
              <a:ext cx="1946700" cy="364200"/>
            </a:xfrm>
            <a:prstGeom prst="rect">
              <a:avLst/>
            </a:prstGeom>
            <a:solidFill>
              <a:srgbClr val="B7B7B7"/>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4"/>
            <p:cNvSpPr/>
            <p:nvPr/>
          </p:nvSpPr>
          <p:spPr>
            <a:xfrm rot="10800000">
              <a:off x="2045700" y="3373550"/>
              <a:ext cx="519600" cy="363600"/>
            </a:xfrm>
            <a:prstGeom prst="chevron">
              <a:avLst>
                <a:gd name="adj" fmla="val 50000"/>
              </a:avLst>
            </a:prstGeom>
            <a:solidFill>
              <a:srgbClr val="B7B7B7"/>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 name="Google Shape;125;p4"/>
          <p:cNvGrpSpPr/>
          <p:nvPr/>
        </p:nvGrpSpPr>
        <p:grpSpPr>
          <a:xfrm>
            <a:off x="3872044" y="3276600"/>
            <a:ext cx="2747987" cy="410125"/>
            <a:chOff x="3567313" y="3200400"/>
            <a:chExt cx="2357775" cy="410125"/>
          </a:xfrm>
        </p:grpSpPr>
        <p:sp>
          <p:nvSpPr>
            <p:cNvPr id="126" name="Google Shape;126;p4"/>
            <p:cNvSpPr/>
            <p:nvPr/>
          </p:nvSpPr>
          <p:spPr>
            <a:xfrm>
              <a:off x="3567313" y="3200400"/>
              <a:ext cx="2020800" cy="410100"/>
            </a:xfrm>
            <a:prstGeom prst="rect">
              <a:avLst/>
            </a:prstGeom>
            <a:solidFill>
              <a:srgbClr val="595959"/>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4"/>
            <p:cNvSpPr/>
            <p:nvPr/>
          </p:nvSpPr>
          <p:spPr>
            <a:xfrm rot="10800000">
              <a:off x="5385688" y="3201025"/>
              <a:ext cx="539400" cy="409500"/>
            </a:xfrm>
            <a:prstGeom prst="chevron">
              <a:avLst>
                <a:gd name="adj" fmla="val 50000"/>
              </a:avLst>
            </a:prstGeom>
            <a:solidFill>
              <a:srgbClr val="595959"/>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4"/>
            <p:cNvSpPr/>
            <p:nvPr/>
          </p:nvSpPr>
          <p:spPr>
            <a:xfrm>
              <a:off x="3595513" y="3220450"/>
              <a:ext cx="1946700" cy="364200"/>
            </a:xfrm>
            <a:prstGeom prst="rect">
              <a:avLst/>
            </a:prstGeom>
            <a:solidFill>
              <a:srgbClr val="B7B7B7"/>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4"/>
            <p:cNvSpPr/>
            <p:nvPr/>
          </p:nvSpPr>
          <p:spPr>
            <a:xfrm rot="10800000">
              <a:off x="5393639" y="3221150"/>
              <a:ext cx="473400" cy="363600"/>
            </a:xfrm>
            <a:prstGeom prst="chevron">
              <a:avLst>
                <a:gd name="adj" fmla="val 50000"/>
              </a:avLst>
            </a:prstGeom>
            <a:solidFill>
              <a:srgbClr val="B7B7B7"/>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 name="Google Shape;130;p4"/>
          <p:cNvGrpSpPr/>
          <p:nvPr/>
        </p:nvGrpSpPr>
        <p:grpSpPr>
          <a:xfrm>
            <a:off x="417963" y="6597750"/>
            <a:ext cx="2357775" cy="410125"/>
            <a:chOff x="-39237" y="6140550"/>
            <a:chExt cx="2357775" cy="410125"/>
          </a:xfrm>
        </p:grpSpPr>
        <p:sp>
          <p:nvSpPr>
            <p:cNvPr id="131" name="Google Shape;131;p4"/>
            <p:cNvSpPr/>
            <p:nvPr/>
          </p:nvSpPr>
          <p:spPr>
            <a:xfrm>
              <a:off x="-39237" y="6140550"/>
              <a:ext cx="2020800" cy="410100"/>
            </a:xfrm>
            <a:prstGeom prst="rect">
              <a:avLst/>
            </a:prstGeom>
            <a:solidFill>
              <a:srgbClr val="595959"/>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4"/>
            <p:cNvSpPr/>
            <p:nvPr/>
          </p:nvSpPr>
          <p:spPr>
            <a:xfrm rot="10800000">
              <a:off x="1779138" y="6141175"/>
              <a:ext cx="539400" cy="409500"/>
            </a:xfrm>
            <a:prstGeom prst="chevron">
              <a:avLst>
                <a:gd name="adj" fmla="val 50000"/>
              </a:avLst>
            </a:prstGeom>
            <a:solidFill>
              <a:srgbClr val="595959"/>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4"/>
            <p:cNvSpPr/>
            <p:nvPr/>
          </p:nvSpPr>
          <p:spPr>
            <a:xfrm>
              <a:off x="-11037" y="6160600"/>
              <a:ext cx="1946700" cy="364200"/>
            </a:xfrm>
            <a:prstGeom prst="rect">
              <a:avLst/>
            </a:prstGeom>
            <a:solidFill>
              <a:srgbClr val="B7B7B7"/>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4"/>
            <p:cNvSpPr/>
            <p:nvPr/>
          </p:nvSpPr>
          <p:spPr>
            <a:xfrm rot="10800000">
              <a:off x="1740888" y="6161300"/>
              <a:ext cx="519600" cy="363600"/>
            </a:xfrm>
            <a:prstGeom prst="chevron">
              <a:avLst>
                <a:gd name="adj" fmla="val 50000"/>
              </a:avLst>
            </a:prstGeom>
            <a:solidFill>
              <a:srgbClr val="B7B7B7"/>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5" name="Google Shape;135;p4"/>
          <p:cNvSpPr txBox="1"/>
          <p:nvPr/>
        </p:nvSpPr>
        <p:spPr>
          <a:xfrm>
            <a:off x="402100" y="1527525"/>
            <a:ext cx="194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OVERVIEW</a:t>
            </a:r>
            <a:endParaRPr b="1">
              <a:latin typeface="Google Sans"/>
              <a:ea typeface="Google Sans"/>
              <a:cs typeface="Google Sans"/>
              <a:sym typeface="Google Sans"/>
            </a:endParaRPr>
          </a:p>
        </p:txBody>
      </p:sp>
      <p:sp>
        <p:nvSpPr>
          <p:cNvPr id="136" name="Google Shape;136;p4"/>
          <p:cNvSpPr txBox="1"/>
          <p:nvPr/>
        </p:nvSpPr>
        <p:spPr>
          <a:xfrm>
            <a:off x="476200" y="3276599"/>
            <a:ext cx="1799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PROJECT STATUS </a:t>
            </a:r>
            <a:endParaRPr b="1">
              <a:latin typeface="Google Sans"/>
              <a:ea typeface="Google Sans"/>
              <a:cs typeface="Google Sans"/>
              <a:sym typeface="Google Sans"/>
            </a:endParaRPr>
          </a:p>
        </p:txBody>
      </p:sp>
      <p:sp>
        <p:nvSpPr>
          <p:cNvPr id="137" name="Google Shape;137;p4"/>
          <p:cNvSpPr txBox="1"/>
          <p:nvPr/>
        </p:nvSpPr>
        <p:spPr>
          <a:xfrm>
            <a:off x="623225" y="6602713"/>
            <a:ext cx="194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NEXT STEPS </a:t>
            </a:r>
            <a:endParaRPr b="1">
              <a:latin typeface="Google Sans"/>
              <a:ea typeface="Google Sans"/>
              <a:cs typeface="Google Sans"/>
              <a:sym typeface="Google Sans"/>
            </a:endParaRPr>
          </a:p>
        </p:txBody>
      </p:sp>
      <p:sp>
        <p:nvSpPr>
          <p:cNvPr id="138" name="Google Shape;138;p4"/>
          <p:cNvSpPr txBox="1"/>
          <p:nvPr/>
        </p:nvSpPr>
        <p:spPr>
          <a:xfrm>
            <a:off x="3848750" y="3276600"/>
            <a:ext cx="1673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KEY INSIGHTS </a:t>
            </a:r>
            <a:endParaRPr b="1">
              <a:latin typeface="Google Sans"/>
              <a:ea typeface="Google Sans"/>
              <a:cs typeface="Google Sans"/>
              <a:sym typeface="Google Sans"/>
            </a:endParaRPr>
          </a:p>
        </p:txBody>
      </p:sp>
      <p:sp>
        <p:nvSpPr>
          <p:cNvPr id="139" name="Google Shape;139;p4"/>
          <p:cNvSpPr txBox="1"/>
          <p:nvPr/>
        </p:nvSpPr>
        <p:spPr>
          <a:xfrm>
            <a:off x="413425" y="1939675"/>
            <a:ext cx="6896100" cy="10275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140" name="Google Shape;140;p4"/>
          <p:cNvSpPr txBox="1"/>
          <p:nvPr/>
        </p:nvSpPr>
        <p:spPr>
          <a:xfrm>
            <a:off x="438138" y="3915350"/>
            <a:ext cx="3108300" cy="2370000"/>
          </a:xfrm>
          <a:prstGeom prst="rect">
            <a:avLst/>
          </a:prstGeom>
          <a:noFill/>
          <a:ln>
            <a:noFill/>
          </a:ln>
        </p:spPr>
        <p:txBody>
          <a:bodyPr spcFirstLastPara="1" wrap="square" lIns="57150"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141" name="Google Shape;141;p4"/>
          <p:cNvSpPr txBox="1"/>
          <p:nvPr/>
        </p:nvSpPr>
        <p:spPr>
          <a:xfrm>
            <a:off x="438150" y="7050750"/>
            <a:ext cx="3108300" cy="2255400"/>
          </a:xfrm>
          <a:prstGeom prst="rect">
            <a:avLst/>
          </a:prstGeom>
          <a:noFill/>
          <a:ln>
            <a:noFill/>
          </a:ln>
        </p:spPr>
        <p:txBody>
          <a:bodyPr spcFirstLastPara="1" wrap="square" lIns="57150"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142" name="Google Shape;142;p4"/>
          <p:cNvSpPr txBox="1"/>
          <p:nvPr/>
        </p:nvSpPr>
        <p:spPr>
          <a:xfrm>
            <a:off x="3905525" y="4039263"/>
            <a:ext cx="3219000" cy="2604300"/>
          </a:xfrm>
          <a:prstGeom prst="rect">
            <a:avLst/>
          </a:prstGeom>
          <a:noFill/>
          <a:ln>
            <a:noFill/>
          </a:ln>
        </p:spPr>
        <p:txBody>
          <a:bodyPr spcFirstLastPara="1" wrap="square" lIns="57150"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143" name="Google Shape;143;p4"/>
          <p:cNvSpPr txBox="1"/>
          <p:nvPr/>
        </p:nvSpPr>
        <p:spPr>
          <a:xfrm>
            <a:off x="4183575" y="9228125"/>
            <a:ext cx="3086700" cy="285000"/>
          </a:xfrm>
          <a:prstGeom prst="rect">
            <a:avLst/>
          </a:prstGeom>
          <a:noFill/>
          <a:ln>
            <a:noFill/>
          </a:ln>
        </p:spPr>
        <p:txBody>
          <a:bodyPr spcFirstLastPara="1" wrap="square" lIns="91425" tIns="91425" rIns="91425" bIns="91425" anchor="t" anchorCtr="0">
            <a:normAutofit fontScale="25000" lnSpcReduction="20000"/>
          </a:bodyPr>
          <a:lstStyle/>
          <a:p>
            <a:pPr marL="0" lvl="0" indent="0" algn="l" rtl="0">
              <a:lnSpc>
                <a:spcPct val="115000"/>
              </a:lnSpc>
              <a:spcBef>
                <a:spcPts val="0"/>
              </a:spcBef>
              <a:spcAft>
                <a:spcPts val="1200"/>
              </a:spcAft>
              <a:buNone/>
            </a:pPr>
            <a:endParaRPr sz="1100" i="1">
              <a:solidFill>
                <a:srgbClr val="595959"/>
              </a:solidFill>
              <a:latin typeface="Google Sans"/>
              <a:ea typeface="Google Sans"/>
              <a:cs typeface="Google Sans"/>
              <a:sym typeface="Google Sans"/>
            </a:endParaRPr>
          </a:p>
        </p:txBody>
      </p:sp>
    </p:spTree>
  </p:cSld>
  <p:clrMapOvr>
    <a:masterClrMapping/>
  </p:clrMapOvr>
  <p:extLst>
    <p:ext uri="{DCECCB84-F9BA-43D5-87BE-67443E8EF086}">
      <p15:sldGuideLst xmlns:p15="http://schemas.microsoft.com/office/powerpoint/2012/main">
        <p15:guide id="1" pos="255">
          <p15:clr>
            <a:srgbClr val="FA7B17"/>
          </p15:clr>
        </p15:guide>
        <p15:guide id="2" orient="horz" pos="2922">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Layout 4">
  <p:cSld name="CUSTOM">
    <p:spTree>
      <p:nvGrpSpPr>
        <p:cNvPr id="1" name="Shape 144"/>
        <p:cNvGrpSpPr/>
        <p:nvPr/>
      </p:nvGrpSpPr>
      <p:grpSpPr>
        <a:xfrm>
          <a:off x="0" y="0"/>
          <a:ext cx="0" cy="0"/>
          <a:chOff x="0" y="0"/>
          <a:chExt cx="0" cy="0"/>
        </a:xfrm>
      </p:grpSpPr>
      <p:sp>
        <p:nvSpPr>
          <p:cNvPr id="145" name="Google Shape;145;p5"/>
          <p:cNvSpPr/>
          <p:nvPr/>
        </p:nvSpPr>
        <p:spPr>
          <a:xfrm flipH="1">
            <a:off x="2748900" y="9168075"/>
            <a:ext cx="5023500" cy="890400"/>
          </a:xfrm>
          <a:prstGeom prst="rtTriangle">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latin typeface="Google Sans"/>
              <a:ea typeface="Google Sans"/>
              <a:cs typeface="Google Sans"/>
              <a:sym typeface="Google Sans"/>
            </a:endParaRPr>
          </a:p>
        </p:txBody>
      </p:sp>
      <p:sp>
        <p:nvSpPr>
          <p:cNvPr id="146" name="Google Shape;146;p5"/>
          <p:cNvSpPr/>
          <p:nvPr/>
        </p:nvSpPr>
        <p:spPr>
          <a:xfrm>
            <a:off x="0" y="9168075"/>
            <a:ext cx="4138800" cy="890400"/>
          </a:xfrm>
          <a:prstGeom prst="rtTriangle">
            <a:avLst/>
          </a:prstGeom>
          <a:solidFill>
            <a:srgbClr val="DB4437"/>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latin typeface="Google Sans"/>
              <a:ea typeface="Google Sans"/>
              <a:cs typeface="Google Sans"/>
              <a:sym typeface="Google Sans"/>
            </a:endParaRPr>
          </a:p>
        </p:txBody>
      </p:sp>
      <p:grpSp>
        <p:nvGrpSpPr>
          <p:cNvPr id="147" name="Google Shape;147;p5"/>
          <p:cNvGrpSpPr/>
          <p:nvPr/>
        </p:nvGrpSpPr>
        <p:grpSpPr>
          <a:xfrm>
            <a:off x="95351" y="1392509"/>
            <a:ext cx="7581691" cy="5901"/>
            <a:chOff x="1890075" y="5241175"/>
            <a:chExt cx="4240556" cy="257700"/>
          </a:xfrm>
        </p:grpSpPr>
        <p:sp>
          <p:nvSpPr>
            <p:cNvPr id="148" name="Google Shape;148;p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49" name="Google Shape;149;p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50" name="Google Shape;150;p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51" name="Google Shape;151;p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152" name="Google Shape;152;p5"/>
          <p:cNvGrpSpPr/>
          <p:nvPr/>
        </p:nvGrpSpPr>
        <p:grpSpPr>
          <a:xfrm>
            <a:off x="95351" y="4542984"/>
            <a:ext cx="7581691" cy="5901"/>
            <a:chOff x="1890075" y="5241175"/>
            <a:chExt cx="4240556" cy="257700"/>
          </a:xfrm>
        </p:grpSpPr>
        <p:sp>
          <p:nvSpPr>
            <p:cNvPr id="153" name="Google Shape;153;p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54" name="Google Shape;154;p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55" name="Google Shape;155;p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56" name="Google Shape;156;p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157" name="Google Shape;157;p5"/>
          <p:cNvSpPr/>
          <p:nvPr/>
        </p:nvSpPr>
        <p:spPr>
          <a:xfrm>
            <a:off x="432000" y="1624350"/>
            <a:ext cx="1598400" cy="269100"/>
          </a:xfrm>
          <a:prstGeom prst="rect">
            <a:avLst/>
          </a:prstGeom>
          <a:solidFill>
            <a:srgbClr val="4285F4"/>
          </a:solidFill>
          <a:ln w="9525" cap="flat" cmpd="sng">
            <a:solidFill>
              <a:srgbClr val="4285F4"/>
            </a:solidFill>
            <a:prstDash val="solid"/>
            <a:round/>
            <a:headEnd type="none" w="sm" len="sm"/>
            <a:tailEnd type="none" w="sm" len="sm"/>
          </a:ln>
          <a:effectLst>
            <a:outerShdw blurRad="57150" dist="19050" dir="5400000" algn="bl" rotWithShape="0">
              <a:srgbClr val="EEEEEE">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Overview </a:t>
            </a:r>
            <a:endParaRPr b="1">
              <a:solidFill>
                <a:srgbClr val="000000"/>
              </a:solidFill>
              <a:latin typeface="Google Sans"/>
              <a:ea typeface="Google Sans"/>
              <a:cs typeface="Google Sans"/>
              <a:sym typeface="Google Sans"/>
            </a:endParaRPr>
          </a:p>
        </p:txBody>
      </p:sp>
      <p:sp>
        <p:nvSpPr>
          <p:cNvPr id="158" name="Google Shape;158;p5"/>
          <p:cNvSpPr/>
          <p:nvPr/>
        </p:nvSpPr>
        <p:spPr>
          <a:xfrm>
            <a:off x="432000" y="2620004"/>
            <a:ext cx="1598400" cy="2850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Problem</a:t>
            </a:r>
            <a:endParaRPr b="1">
              <a:solidFill>
                <a:srgbClr val="000000"/>
              </a:solidFill>
              <a:latin typeface="Google Sans"/>
              <a:ea typeface="Google Sans"/>
              <a:cs typeface="Google Sans"/>
              <a:sym typeface="Google Sans"/>
            </a:endParaRPr>
          </a:p>
        </p:txBody>
      </p:sp>
      <p:sp>
        <p:nvSpPr>
          <p:cNvPr id="159" name="Google Shape;159;p5"/>
          <p:cNvSpPr/>
          <p:nvPr/>
        </p:nvSpPr>
        <p:spPr>
          <a:xfrm>
            <a:off x="432000" y="3615673"/>
            <a:ext cx="1598400" cy="2691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Solution</a:t>
            </a:r>
            <a:endParaRPr b="1">
              <a:solidFill>
                <a:srgbClr val="000000"/>
              </a:solidFill>
              <a:latin typeface="Google Sans"/>
              <a:ea typeface="Google Sans"/>
              <a:cs typeface="Google Sans"/>
              <a:sym typeface="Google Sans"/>
            </a:endParaRPr>
          </a:p>
        </p:txBody>
      </p:sp>
      <p:sp>
        <p:nvSpPr>
          <p:cNvPr id="160" name="Google Shape;160;p5"/>
          <p:cNvSpPr/>
          <p:nvPr/>
        </p:nvSpPr>
        <p:spPr>
          <a:xfrm>
            <a:off x="432000" y="4676196"/>
            <a:ext cx="1598400" cy="2850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Details </a:t>
            </a:r>
            <a:endParaRPr b="1">
              <a:solidFill>
                <a:srgbClr val="000000"/>
              </a:solidFill>
              <a:latin typeface="Google Sans"/>
              <a:ea typeface="Google Sans"/>
              <a:cs typeface="Google Sans"/>
              <a:sym typeface="Google Sans"/>
            </a:endParaRPr>
          </a:p>
        </p:txBody>
      </p:sp>
      <p:sp>
        <p:nvSpPr>
          <p:cNvPr id="161" name="Google Shape;161;p5"/>
          <p:cNvSpPr/>
          <p:nvPr/>
        </p:nvSpPr>
        <p:spPr>
          <a:xfrm>
            <a:off x="432000" y="8296570"/>
            <a:ext cx="1598400" cy="2691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Next Steps </a:t>
            </a:r>
            <a:endParaRPr b="1">
              <a:solidFill>
                <a:srgbClr val="000000"/>
              </a:solidFill>
              <a:latin typeface="Google Sans"/>
              <a:ea typeface="Google Sans"/>
              <a:cs typeface="Google Sans"/>
              <a:sym typeface="Google Sans"/>
            </a:endParaRPr>
          </a:p>
        </p:txBody>
      </p:sp>
      <p:grpSp>
        <p:nvGrpSpPr>
          <p:cNvPr id="162" name="Google Shape;162;p5"/>
          <p:cNvGrpSpPr/>
          <p:nvPr/>
        </p:nvGrpSpPr>
        <p:grpSpPr>
          <a:xfrm>
            <a:off x="95351" y="8200359"/>
            <a:ext cx="7581691" cy="5901"/>
            <a:chOff x="1890075" y="5241175"/>
            <a:chExt cx="4240556" cy="257700"/>
          </a:xfrm>
        </p:grpSpPr>
        <p:sp>
          <p:nvSpPr>
            <p:cNvPr id="163" name="Google Shape;163;p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4" name="Google Shape;164;p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5" name="Google Shape;165;p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6" name="Google Shape;166;p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O NOT USE ">
  <p:cSld name="TITLE_2_1">
    <p:spTree>
      <p:nvGrpSpPr>
        <p:cNvPr id="1" name="Shape 167"/>
        <p:cNvGrpSpPr/>
        <p:nvPr/>
      </p:nvGrpSpPr>
      <p:grpSpPr>
        <a:xfrm>
          <a:off x="0" y="0"/>
          <a:ext cx="0" cy="0"/>
          <a:chOff x="0" y="0"/>
          <a:chExt cx="0" cy="0"/>
        </a:xfrm>
      </p:grpSpPr>
      <p:sp>
        <p:nvSpPr>
          <p:cNvPr id="168" name="Google Shape;168;p6"/>
          <p:cNvSpPr txBox="1"/>
          <p:nvPr/>
        </p:nvSpPr>
        <p:spPr>
          <a:xfrm>
            <a:off x="3993321" y="9367991"/>
            <a:ext cx="3693900" cy="734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600">
                <a:solidFill>
                  <a:srgbClr val="FFFFFF"/>
                </a:solidFill>
                <a:latin typeface="Roboto"/>
                <a:ea typeface="Roboto"/>
                <a:cs typeface="Roboto"/>
                <a:sym typeface="Roboto"/>
              </a:rPr>
              <a:t>Source:  Lorem ipsum dolor sit amet, consectetur adipiscing elit. Duis non erat sem</a:t>
            </a:r>
            <a:endParaRPr sz="600">
              <a:solidFill>
                <a:srgbClr val="FFFFFF"/>
              </a:solidFill>
              <a:latin typeface="Roboto"/>
              <a:ea typeface="Roboto"/>
              <a:cs typeface="Roboto"/>
              <a:sym typeface="Roboto"/>
            </a:endParaRPr>
          </a:p>
        </p:txBody>
      </p:sp>
      <p:grpSp>
        <p:nvGrpSpPr>
          <p:cNvPr id="169" name="Google Shape;169;p6"/>
          <p:cNvGrpSpPr/>
          <p:nvPr/>
        </p:nvGrpSpPr>
        <p:grpSpPr>
          <a:xfrm>
            <a:off x="-16250" y="9048087"/>
            <a:ext cx="7804900" cy="1072407"/>
            <a:chOff x="-19118" y="4617750"/>
            <a:chExt cx="9182236" cy="548378"/>
          </a:xfrm>
        </p:grpSpPr>
        <p:sp>
          <p:nvSpPr>
            <p:cNvPr id="170" name="Google Shape;170;p6"/>
            <p:cNvSpPr/>
            <p:nvPr/>
          </p:nvSpPr>
          <p:spPr>
            <a:xfrm flipH="1">
              <a:off x="19244" y="4617750"/>
              <a:ext cx="9143874" cy="548378"/>
            </a:xfrm>
            <a:custGeom>
              <a:avLst/>
              <a:gdLst/>
              <a:ahLst/>
              <a:cxnLst/>
              <a:rect l="l" t="t" r="r" b="b"/>
              <a:pathLst>
                <a:path w="367556" h="19840" extrusionOk="0">
                  <a:moveTo>
                    <a:pt x="0" y="19840"/>
                  </a:moveTo>
                  <a:lnTo>
                    <a:pt x="515" y="0"/>
                  </a:lnTo>
                  <a:lnTo>
                    <a:pt x="367556" y="11270"/>
                  </a:lnTo>
                  <a:lnTo>
                    <a:pt x="367044" y="18698"/>
                  </a:lnTo>
                  <a:close/>
                </a:path>
              </a:pathLst>
            </a:custGeom>
            <a:solidFill>
              <a:srgbClr val="4069DD"/>
            </a:solidFill>
            <a:ln>
              <a:noFill/>
            </a:ln>
          </p:spPr>
        </p:sp>
        <p:sp>
          <p:nvSpPr>
            <p:cNvPr id="171" name="Google Shape;171;p6"/>
            <p:cNvSpPr/>
            <p:nvPr/>
          </p:nvSpPr>
          <p:spPr>
            <a:xfrm flipH="1">
              <a:off x="-19118" y="4677825"/>
              <a:ext cx="4769786" cy="473975"/>
            </a:xfrm>
            <a:custGeom>
              <a:avLst/>
              <a:gdLst/>
              <a:ahLst/>
              <a:cxnLst/>
              <a:rect l="l" t="t" r="r" b="b"/>
              <a:pathLst>
                <a:path w="366343" h="18959" extrusionOk="0">
                  <a:moveTo>
                    <a:pt x="0" y="18521"/>
                  </a:moveTo>
                  <a:lnTo>
                    <a:pt x="366343" y="0"/>
                  </a:lnTo>
                  <a:lnTo>
                    <a:pt x="366052" y="18959"/>
                  </a:lnTo>
                  <a:close/>
                </a:path>
              </a:pathLst>
            </a:custGeom>
            <a:solidFill>
              <a:srgbClr val="448AFF"/>
            </a:solidFill>
            <a:ln>
              <a:noFill/>
            </a:ln>
          </p:spPr>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 DO NOT USE">
  <p:cSld name="CUSTOM_1">
    <p:spTree>
      <p:nvGrpSpPr>
        <p:cNvPr id="1" name="Shape 17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Google Sans SemiBold"/>
              <a:buNone/>
              <a:defRPr sz="2800">
                <a:solidFill>
                  <a:schemeClr val="dk1"/>
                </a:solidFill>
                <a:latin typeface="Google Sans SemiBold"/>
                <a:ea typeface="Google Sans SemiBold"/>
                <a:cs typeface="Google Sans SemiBold"/>
                <a:sym typeface="Google Sans SemiBo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Google Sans"/>
              <a:buChar char="●"/>
              <a:defRPr sz="1800">
                <a:solidFill>
                  <a:schemeClr val="dk2"/>
                </a:solidFill>
                <a:latin typeface="Google Sans"/>
                <a:ea typeface="Google Sans"/>
                <a:cs typeface="Google Sans"/>
                <a:sym typeface="Google Sans"/>
              </a:defRPr>
            </a:lvl1pPr>
            <a:lvl2pPr marL="914400" lvl="1"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2pPr>
            <a:lvl3pPr marL="1371600" lvl="2"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3pPr>
            <a:lvl4pPr marL="1828800" lvl="3"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4pPr>
            <a:lvl5pPr marL="2286000" lvl="4"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5pPr>
            <a:lvl6pPr marL="2743200" lvl="5"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6pPr>
            <a:lvl7pPr marL="3200400" lvl="6"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7pPr>
            <a:lvl8pPr marL="3657600" lvl="7"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8pPr>
            <a:lvl9pPr marL="4114800" lvl="8"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9pPr>
          </a:lstStyle>
          <a:p>
            <a:endParaRPr/>
          </a:p>
        </p:txBody>
      </p:sp>
      <p:sp>
        <p:nvSpPr>
          <p:cNvPr id="8" name="Google Shape;8;p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9" name="Google Shape;9;p1"/>
          <p:cNvSpPr txBox="1"/>
          <p:nvPr/>
        </p:nvSpPr>
        <p:spPr>
          <a:xfrm>
            <a:off x="3247350" y="1195375"/>
            <a:ext cx="4498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solidFill>
                <a:schemeClr val="dk2"/>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8"/>
          <p:cNvSpPr txBox="1"/>
          <p:nvPr/>
        </p:nvSpPr>
        <p:spPr>
          <a:xfrm>
            <a:off x="226200" y="3227100"/>
            <a:ext cx="2773800" cy="1661963"/>
          </a:xfrm>
          <a:prstGeom prst="rect">
            <a:avLst/>
          </a:prstGeom>
          <a:noFill/>
          <a:ln>
            <a:noFill/>
          </a:ln>
        </p:spPr>
        <p:txBody>
          <a:bodyPr spcFirstLastPara="1" wrap="square" lIns="91425" tIns="91425" rIns="91425" bIns="91425" anchor="t" anchorCtr="0">
            <a:spAutoFit/>
          </a:bodyPr>
          <a:lstStyle/>
          <a:p>
            <a:r>
              <a:rPr lang="en-FI" sz="1200" dirty="0"/>
              <a:t>A preliminary investigation of the Finnish </a:t>
            </a:r>
            <a:r>
              <a:rPr lang="en-FI" sz="1200" dirty="0" err="1"/>
              <a:t>Liiga</a:t>
            </a:r>
            <a:r>
              <a:rPr lang="en-FI" sz="1200" dirty="0"/>
              <a:t> match classification dataset was conducted to identify key relationships between variables. To classify game outcomes, the distribution of home and away wins was </a:t>
            </a:r>
            <a:r>
              <a:rPr lang="en-FI" sz="1200" dirty="0" err="1"/>
              <a:t>analyzed</a:t>
            </a:r>
            <a:r>
              <a:rPr lang="en-FI" sz="1200" dirty="0"/>
              <a:t> to understand the frequency of each match result.</a:t>
            </a:r>
          </a:p>
        </p:txBody>
      </p:sp>
      <p:sp>
        <p:nvSpPr>
          <p:cNvPr id="178" name="Google Shape;178;p8"/>
          <p:cNvSpPr txBox="1"/>
          <p:nvPr/>
        </p:nvSpPr>
        <p:spPr>
          <a:xfrm>
            <a:off x="281500" y="1269175"/>
            <a:ext cx="2773800" cy="1638880"/>
          </a:xfrm>
          <a:prstGeom prst="rect">
            <a:avLst/>
          </a:prstGeom>
          <a:noFill/>
          <a:ln>
            <a:noFill/>
          </a:ln>
        </p:spPr>
        <p:txBody>
          <a:bodyPr spcFirstLastPara="1" wrap="square" lIns="91425" tIns="91425" rIns="91425" bIns="91425" anchor="t" anchorCtr="0">
            <a:spAutoFit/>
          </a:bodyPr>
          <a:lstStyle/>
          <a:p>
            <a:pPr lvl="0"/>
            <a:r>
              <a:rPr lang="en-FI" sz="1050" b="1" dirty="0"/>
              <a:t>Missing Values:</a:t>
            </a:r>
            <a:r>
              <a:rPr lang="en-FI" sz="1050" dirty="0"/>
              <a:t> 32 records (~5.2%) are missing Expected Goals (</a:t>
            </a:r>
            <a:r>
              <a:rPr lang="en-FI" sz="1050" dirty="0" err="1"/>
              <a:t>home_xg</a:t>
            </a:r>
            <a:r>
              <a:rPr lang="en-FI" sz="1050" dirty="0"/>
              <a:t> / </a:t>
            </a:r>
            <a:r>
              <a:rPr lang="en-FI" sz="1050" dirty="0" err="1"/>
              <a:t>away_xg</a:t>
            </a:r>
            <a:r>
              <a:rPr lang="en-FI" sz="1050" dirty="0"/>
              <a:t>) data.</a:t>
            </a:r>
          </a:p>
          <a:p>
            <a:pPr lvl="0"/>
            <a:r>
              <a:rPr lang="en-FI" sz="1050" b="1" dirty="0"/>
              <a:t>OT/Shootout Complexity:</a:t>
            </a:r>
            <a:r>
              <a:rPr lang="en-FI" sz="1050" dirty="0"/>
              <a:t> Regulation ties going into OT/SO are currently forced into a binary classification.</a:t>
            </a:r>
          </a:p>
          <a:p>
            <a:pPr lvl="0"/>
            <a:r>
              <a:rPr lang="en-FI" sz="1050" b="1" dirty="0"/>
              <a:t>Attendance Outliers:</a:t>
            </a:r>
            <a:r>
              <a:rPr lang="en-FI" sz="1050" dirty="0"/>
              <a:t> Certain matches display 0 spectators, requiring data cleaning before feature engineering.</a:t>
            </a:r>
          </a:p>
        </p:txBody>
      </p:sp>
      <p:sp>
        <p:nvSpPr>
          <p:cNvPr id="179" name="Google Shape;179;p8"/>
          <p:cNvSpPr txBox="1"/>
          <p:nvPr/>
        </p:nvSpPr>
        <p:spPr>
          <a:xfrm>
            <a:off x="156750" y="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dirty="0">
                <a:latin typeface="Google Sans"/>
                <a:ea typeface="Google Sans"/>
                <a:cs typeface="Google Sans"/>
                <a:sym typeface="Google Sans"/>
              </a:rPr>
              <a:t>Executive Summary</a:t>
            </a:r>
            <a:endParaRPr sz="2100" b="1" dirty="0">
              <a:latin typeface="Google Sans"/>
              <a:ea typeface="Google Sans"/>
              <a:cs typeface="Google Sans"/>
              <a:sym typeface="Google Sans"/>
            </a:endParaRPr>
          </a:p>
        </p:txBody>
      </p:sp>
      <p:sp>
        <p:nvSpPr>
          <p:cNvPr id="180" name="Google Shape;180;p8"/>
          <p:cNvSpPr txBox="1"/>
          <p:nvPr/>
        </p:nvSpPr>
        <p:spPr>
          <a:xfrm>
            <a:off x="1514750" y="426175"/>
            <a:ext cx="5094900" cy="550890"/>
          </a:xfrm>
          <a:prstGeom prst="rect">
            <a:avLst/>
          </a:prstGeom>
          <a:noFill/>
          <a:ln>
            <a:noFill/>
          </a:ln>
        </p:spPr>
        <p:txBody>
          <a:bodyPr spcFirstLastPara="1" wrap="square" lIns="91425" tIns="91425" rIns="91425" bIns="91425" anchor="t" anchorCtr="0">
            <a:spAutoFit/>
          </a:bodyPr>
          <a:lstStyle/>
          <a:p>
            <a:pPr lvl="0" algn="ctr">
              <a:lnSpc>
                <a:spcPct val="115000"/>
              </a:lnSpc>
              <a:spcAft>
                <a:spcPts val="1200"/>
              </a:spcAft>
            </a:pPr>
            <a:r>
              <a:rPr lang="en-FI" sz="1200" dirty="0"/>
              <a:t>Milestone 1 of the Finnish </a:t>
            </a:r>
            <a:r>
              <a:rPr lang="en-FI" sz="1200" dirty="0" err="1"/>
              <a:t>Liiga</a:t>
            </a:r>
            <a:r>
              <a:rPr lang="en-FI" sz="1200" dirty="0"/>
              <a:t> Game Outcome Classification Project</a:t>
            </a:r>
            <a:endParaRPr sz="1200" dirty="0">
              <a:solidFill>
                <a:srgbClr val="000000"/>
              </a:solidFill>
              <a:latin typeface="PT Sans Narrow"/>
              <a:ea typeface="PT Sans Narrow"/>
              <a:cs typeface="PT Sans Narrow"/>
              <a:sym typeface="PT Sans Narrow"/>
            </a:endParaRPr>
          </a:p>
        </p:txBody>
      </p:sp>
      <p:sp>
        <p:nvSpPr>
          <p:cNvPr id="181" name="Google Shape;181;p8"/>
          <p:cNvSpPr txBox="1"/>
          <p:nvPr/>
        </p:nvSpPr>
        <p:spPr>
          <a:xfrm>
            <a:off x="226200" y="5670675"/>
            <a:ext cx="2886000" cy="1846629"/>
          </a:xfrm>
          <a:prstGeom prst="rect">
            <a:avLst/>
          </a:prstGeom>
          <a:noFill/>
          <a:ln>
            <a:noFill/>
          </a:ln>
        </p:spPr>
        <p:txBody>
          <a:bodyPr spcFirstLastPara="1" wrap="square" lIns="91425" tIns="91425" rIns="91425" bIns="91425" anchor="t" anchorCtr="0">
            <a:spAutoFit/>
          </a:bodyPr>
          <a:lstStyle/>
          <a:p>
            <a:pPr lvl="0"/>
            <a:r>
              <a:rPr lang="en-FI" sz="1200" dirty="0"/>
              <a:t>The impact of this preliminary analysis will be evident in the next steps. In order to understand the impact of match dynamics, the data team identified two important variables to consider. The variables </a:t>
            </a:r>
            <a:r>
              <a:rPr lang="en-FI" sz="1200" b="1" dirty="0" err="1"/>
              <a:t>home_goals</a:t>
            </a:r>
            <a:r>
              <a:rPr lang="en-FI" sz="1200" dirty="0"/>
              <a:t> and </a:t>
            </a:r>
            <a:r>
              <a:rPr lang="en-FI" sz="1200" b="1" dirty="0" err="1"/>
              <a:t>home_xg</a:t>
            </a:r>
            <a:r>
              <a:rPr lang="en-FI" sz="1200" dirty="0"/>
              <a:t> (expected goals) are both important factors to consider for future prediction models.</a:t>
            </a:r>
            <a:endParaRPr sz="1200" dirty="0">
              <a:latin typeface="Google Sans"/>
              <a:ea typeface="Google Sans"/>
              <a:cs typeface="Google Sans"/>
              <a:sym typeface="Google Sans"/>
            </a:endParaRPr>
          </a:p>
        </p:txBody>
      </p:sp>
      <mc:AlternateContent xmlns:mc="http://schemas.openxmlformats.org/markup-compatibility/2006" xmlns:a14="http://schemas.microsoft.com/office/drawing/2010/main">
        <mc:Choice Requires="a14">
          <p:sp>
            <p:nvSpPr>
              <p:cNvPr id="182" name="Google Shape;182;p8"/>
              <p:cNvSpPr txBox="1"/>
              <p:nvPr/>
            </p:nvSpPr>
            <p:spPr>
              <a:xfrm>
                <a:off x="-17518" y="7794875"/>
                <a:ext cx="3507593" cy="1800463"/>
              </a:xfrm>
              <a:prstGeom prst="rect">
                <a:avLst/>
              </a:prstGeom>
              <a:noFill/>
              <a:ln>
                <a:noFill/>
              </a:ln>
            </p:spPr>
            <p:txBody>
              <a:bodyPr spcFirstLastPara="1" wrap="square" lIns="91425" tIns="91425" rIns="91425" bIns="91425" anchor="t" anchorCtr="0">
                <a:spAutoFit/>
              </a:bodyPr>
              <a:lstStyle/>
              <a:p>
                <a:pPr marL="457200" lvl="0" indent="-304800">
                  <a:buClr>
                    <a:schemeClr val="dk1"/>
                  </a:buClr>
                  <a:buSzPts val="1200"/>
                  <a:buFont typeface="Google Sans"/>
                  <a:buChar char="●"/>
                </a:pPr>
                <a:r>
                  <a:rPr lang="en-FI" sz="1050" dirty="0"/>
                  <a:t>There is a near equal balance of away wins versus home wins. With this understanding, we can proceed with our future analysis knowing that there is a fairly balanced amount of home wins (</a:t>
                </a:r>
                <a14:m>
                  <m:oMath xmlns:m="http://schemas.openxmlformats.org/officeDocument/2006/math">
                    <m:r>
                      <a:rPr lang="en-FI" sz="1050">
                        <a:latin typeface="Cambria Math" panose="02040503050406030204" pitchFamily="18" charset="0"/>
                      </a:rPr>
                      <m:t>327</m:t>
                    </m:r>
                  </m:oMath>
                </a14:m>
                <a:r>
                  <a:rPr lang="en-FI" sz="1050" dirty="0"/>
                  <a:t>) and away wins (</a:t>
                </a:r>
                <a14:m>
                  <m:oMath xmlns:m="http://schemas.openxmlformats.org/officeDocument/2006/math">
                    <m:r>
                      <a:rPr lang="en-FI" sz="1050">
                        <a:latin typeface="Cambria Math" panose="02040503050406030204" pitchFamily="18" charset="0"/>
                      </a:rPr>
                      <m:t>287</m:t>
                    </m:r>
                  </m:oMath>
                </a14:m>
                <a:r>
                  <a:rPr lang="en-FI" sz="1050" dirty="0"/>
                  <a:t>) included within this dataset.</a:t>
                </a:r>
                <a:endParaRPr lang="ru-RU" sz="1050" dirty="0"/>
              </a:p>
              <a:p>
                <a:pPr marL="457200" lvl="0" indent="-304800">
                  <a:buClr>
                    <a:schemeClr val="dk1"/>
                  </a:buClr>
                  <a:buSzPts val="1200"/>
                  <a:buFont typeface="Google Sans"/>
                  <a:buChar char="●"/>
                </a:pPr>
                <a:r>
                  <a:rPr lang="en-FI" sz="1050" dirty="0"/>
                  <a:t>With the key variables identified (</a:t>
                </a:r>
                <a:r>
                  <a:rPr lang="en-FI" sz="1050" dirty="0" err="1"/>
                  <a:t>home_goals</a:t>
                </a:r>
                <a:r>
                  <a:rPr lang="en-FI" sz="1050" dirty="0"/>
                  <a:t>, </a:t>
                </a:r>
                <a:r>
                  <a:rPr lang="en-FI" sz="1050" dirty="0" err="1"/>
                  <a:t>home_xg</a:t>
                </a:r>
                <a:r>
                  <a:rPr lang="en-FI" sz="1050" dirty="0"/>
                  <a:t>) and the initial investigation of the match classification dataset, the process of exploratory data analysis can begin. </a:t>
                </a:r>
                <a:endParaRPr sz="1050" dirty="0">
                  <a:solidFill>
                    <a:schemeClr val="dk1"/>
                  </a:solidFill>
                  <a:latin typeface="Google Sans"/>
                  <a:ea typeface="Google Sans"/>
                  <a:cs typeface="Google Sans"/>
                  <a:sym typeface="Google Sans"/>
                </a:endParaRPr>
              </a:p>
            </p:txBody>
          </p:sp>
        </mc:Choice>
        <mc:Fallback xmlns="">
          <p:sp>
            <p:nvSpPr>
              <p:cNvPr id="182" name="Google Shape;182;p8"/>
              <p:cNvSpPr txBox="1">
                <a:spLocks noRot="1" noChangeAspect="1" noMove="1" noResize="1" noEditPoints="1" noAdjustHandles="1" noChangeArrowheads="1" noChangeShapeType="1" noTextEdit="1"/>
              </p:cNvSpPr>
              <p:nvPr/>
            </p:nvSpPr>
            <p:spPr>
              <a:xfrm>
                <a:off x="-17518" y="7794875"/>
                <a:ext cx="3507593" cy="1800463"/>
              </a:xfrm>
              <a:prstGeom prst="rect">
                <a:avLst/>
              </a:prstGeom>
              <a:blipFill>
                <a:blip r:embed="rId3"/>
                <a:stretch>
                  <a:fillRect/>
                </a:stretch>
              </a:blipFill>
              <a:ln>
                <a:noFill/>
              </a:ln>
            </p:spPr>
            <p:txBody>
              <a:bodyPr/>
              <a:lstStyle/>
              <a:p>
                <a:r>
                  <a:rPr lang="en-FI">
                    <a:noFill/>
                  </a:rPr>
                  <a:t> </a:t>
                </a:r>
              </a:p>
            </p:txBody>
          </p:sp>
        </mc:Fallback>
      </mc:AlternateContent>
      <p:sp>
        <p:nvSpPr>
          <p:cNvPr id="183" name="Google Shape;183;p8"/>
          <p:cNvSpPr txBox="1"/>
          <p:nvPr/>
        </p:nvSpPr>
        <p:spPr>
          <a:xfrm>
            <a:off x="4103150" y="949660"/>
            <a:ext cx="338775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dirty="0">
                <a:solidFill>
                  <a:schemeClr val="dk1"/>
                </a:solidFill>
                <a:latin typeface="Google Sans"/>
                <a:ea typeface="Google Sans"/>
                <a:cs typeface="Google Sans"/>
                <a:sym typeface="Google Sans"/>
              </a:rPr>
              <a:t>UNDERSTANDING THE DATA</a:t>
            </a:r>
            <a:endParaRPr dirty="0">
              <a:latin typeface="Google Sans"/>
              <a:ea typeface="Google Sans"/>
              <a:cs typeface="Google Sans"/>
              <a:sym typeface="Google Sans"/>
            </a:endParaRPr>
          </a:p>
        </p:txBody>
      </p:sp>
      <p:sp>
        <p:nvSpPr>
          <p:cNvPr id="184" name="Google Shape;184;p8"/>
          <p:cNvSpPr txBox="1"/>
          <p:nvPr/>
        </p:nvSpPr>
        <p:spPr>
          <a:xfrm>
            <a:off x="3221899" y="1262850"/>
            <a:ext cx="4550501" cy="954077"/>
          </a:xfrm>
          <a:prstGeom prst="rect">
            <a:avLst/>
          </a:prstGeom>
          <a:noFill/>
          <a:ln>
            <a:noFill/>
          </a:ln>
        </p:spPr>
        <p:txBody>
          <a:bodyPr spcFirstLastPara="1" wrap="square" lIns="91425" tIns="91425" rIns="91425" bIns="91425" anchor="t" anchorCtr="0">
            <a:spAutoFit/>
          </a:bodyPr>
          <a:lstStyle/>
          <a:p>
            <a:pPr lvl="0"/>
            <a:r>
              <a:rPr lang="en-FI" sz="1200" dirty="0"/>
              <a:t>After reviewing the provided dataset, the variable </a:t>
            </a:r>
            <a:r>
              <a:rPr lang="en-FI" sz="1200" b="1" dirty="0" err="1"/>
              <a:t>home_win</a:t>
            </a:r>
            <a:r>
              <a:rPr lang="en-FI" sz="1200" dirty="0"/>
              <a:t> seemed particularly useful, given the proposed match outcome prediction project. </a:t>
            </a:r>
            <a:r>
              <a:rPr lang="ru-RU" sz="1200" dirty="0"/>
              <a:t> </a:t>
            </a:r>
            <a:r>
              <a:rPr lang="en-FI" sz="1200" dirty="0"/>
              <a:t>The following metrics show important points of analysis required to understand the </a:t>
            </a:r>
            <a:r>
              <a:rPr lang="en-FI" sz="1200" b="1" dirty="0" err="1"/>
              <a:t>home_win</a:t>
            </a:r>
            <a:r>
              <a:rPr lang="en-FI" sz="1200" b="1" dirty="0"/>
              <a:t> </a:t>
            </a:r>
            <a:r>
              <a:rPr lang="en-FI" sz="1200" dirty="0"/>
              <a:t>variable: </a:t>
            </a:r>
            <a:endParaRPr sz="1200" dirty="0">
              <a:latin typeface="Google Sans"/>
              <a:ea typeface="Google Sans"/>
              <a:cs typeface="Google Sans"/>
              <a:sym typeface="Google Sans"/>
            </a:endParaRPr>
          </a:p>
        </p:txBody>
      </p:sp>
      <mc:AlternateContent xmlns:mc="http://schemas.openxmlformats.org/markup-compatibility/2006" xmlns:a14="http://schemas.microsoft.com/office/drawing/2010/main">
        <mc:Choice Requires="a14">
          <p:sp>
            <p:nvSpPr>
              <p:cNvPr id="186" name="Google Shape;186;p8"/>
              <p:cNvSpPr txBox="1"/>
              <p:nvPr/>
            </p:nvSpPr>
            <p:spPr>
              <a:xfrm>
                <a:off x="3237250" y="2884429"/>
                <a:ext cx="4175400" cy="4339619"/>
              </a:xfrm>
              <a:prstGeom prst="rect">
                <a:avLst/>
              </a:prstGeom>
              <a:noFill/>
              <a:ln>
                <a:noFill/>
              </a:ln>
            </p:spPr>
            <p:txBody>
              <a:bodyPr spcFirstLastPara="1" wrap="square" lIns="91425" tIns="91425" rIns="91425" bIns="91425" anchor="t" anchorCtr="0">
                <a:spAutoFit/>
              </a:bodyPr>
              <a:lstStyle/>
              <a:p>
                <a:pPr lvl="0"/>
                <a:r>
                  <a:rPr lang="en-GB" sz="1200" dirty="0"/>
                  <a:t>Note: The counts of each outcome are quite balanced. There are </a:t>
                </a:r>
                <a14:m>
                  <m:oMath xmlns:m="http://schemas.openxmlformats.org/officeDocument/2006/math">
                    <m:r>
                      <a:rPr lang="en-GB" sz="1200">
                        <a:latin typeface="Cambria Math" panose="02040503050406030204" pitchFamily="18" charset="0"/>
                      </a:rPr>
                      <m:t>327</m:t>
                    </m:r>
                    <m:r>
                      <a:rPr lang="en-GB" sz="1200" b="0" i="0" smtClean="0">
                        <a:latin typeface="Cambria Math" panose="02040503050406030204" pitchFamily="18" charset="0"/>
                      </a:rPr>
                      <m:t> </m:t>
                    </m:r>
                  </m:oMath>
                </a14:m>
                <a:r>
                  <a:rPr lang="en-GB" sz="1200" dirty="0"/>
                  <a:t>home wins and </a:t>
                </a:r>
                <a14:m>
                  <m:oMath xmlns:m="http://schemas.openxmlformats.org/officeDocument/2006/math">
                    <m:r>
                      <a:rPr lang="en-GB" sz="1200">
                        <a:latin typeface="Cambria Math" panose="02040503050406030204" pitchFamily="18" charset="0"/>
                      </a:rPr>
                      <m:t>287</m:t>
                    </m:r>
                  </m:oMath>
                </a14:m>
                <a:r>
                  <a:rPr lang="ru-RU" sz="1200" dirty="0"/>
                  <a:t> </a:t>
                </a:r>
                <a:r>
                  <a:rPr lang="en-GB" sz="1200" dirty="0"/>
                  <a:t>away/OT wins.</a:t>
                </a:r>
                <a:endParaRPr lang="ru-RU" sz="1200" dirty="0"/>
              </a:p>
              <a:p>
                <a:pPr lvl="0"/>
                <a:endParaRPr lang="en-GB" dirty="0">
                  <a:solidFill>
                    <a:schemeClr val="dk1"/>
                  </a:solidFill>
                  <a:latin typeface="Google Sans"/>
                  <a:ea typeface="Google Sans"/>
                  <a:cs typeface="Google Sans"/>
                  <a:sym typeface="Google Sans"/>
                </a:endParaRPr>
              </a:p>
              <a:p>
                <a:pPr algn="ctr"/>
                <a:r>
                  <a:rPr lang="en-FI" b="1" dirty="0"/>
                  <a:t>MATCH SCORING TRENDS</a:t>
                </a:r>
                <a:endParaRPr lang="ru-RU" b="1" dirty="0"/>
              </a:p>
              <a:p>
                <a:pPr algn="ctr"/>
                <a:endParaRPr lang="en-FI" b="1" dirty="0"/>
              </a:p>
              <a:p>
                <a:r>
                  <a:rPr lang="en-FI" sz="1200" dirty="0"/>
                  <a:t>Team performance was evaluated for each match in the home win and away win categories. In order to understand match scoring trends, the home goal count was analysed. The mean and median goal count show the impact of each category of match outcome; specifically, the mean and median goal counts for both categories show the association between venue outcome (home win or away win) and scoring.</a:t>
                </a:r>
                <a:endParaRPr lang="en-GB" sz="1200" dirty="0"/>
              </a:p>
              <a:p>
                <a:endParaRPr lang="en-FI" sz="1200" dirty="0"/>
              </a:p>
              <a:p>
                <a:r>
                  <a:rPr lang="en-FI" sz="1200" b="1" dirty="0"/>
                  <a:t>Home Wins (1):</a:t>
                </a:r>
                <a:endParaRPr lang="en-FI" sz="1200" dirty="0"/>
              </a:p>
              <a:p>
                <a:pPr lvl="0"/>
                <a:r>
                  <a:rPr lang="en-FI" sz="1200" dirty="0"/>
                  <a:t>Mean home goal count: </a:t>
                </a:r>
                <a:r>
                  <a:rPr lang="en-FI" sz="1200" b="1" dirty="0"/>
                  <a:t>3.96</a:t>
                </a:r>
                <a:r>
                  <a:rPr lang="en-FI" sz="1200" dirty="0"/>
                  <a:t> </a:t>
                </a:r>
                <a:r>
                  <a:rPr lang="en-FI" sz="1200" i="1" dirty="0"/>
                  <a:t>(</a:t>
                </a:r>
                <a:r>
                  <a:rPr lang="en-GB" sz="1200" i="1" dirty="0"/>
                  <a:t>or</a:t>
                </a:r>
                <a:r>
                  <a:rPr lang="en-FI" sz="1200" i="1" dirty="0"/>
                  <a:t> 3.957187)</a:t>
                </a:r>
                <a:endParaRPr lang="en-FI" sz="1200" dirty="0"/>
              </a:p>
              <a:p>
                <a:pPr lvl="0"/>
                <a:r>
                  <a:rPr lang="en-FI" sz="1200" dirty="0"/>
                  <a:t>Median home goal count: </a:t>
                </a:r>
                <a:r>
                  <a:rPr lang="en-FI" sz="1200" b="1" dirty="0"/>
                  <a:t>4.0</a:t>
                </a:r>
                <a:endParaRPr lang="ru-RU" sz="1200" b="1" dirty="0"/>
              </a:p>
              <a:p>
                <a:pPr lvl="0"/>
                <a:endParaRPr lang="en-FI" sz="1200" dirty="0"/>
              </a:p>
              <a:p>
                <a:r>
                  <a:rPr lang="en-FI" sz="1200" b="1" dirty="0"/>
                  <a:t>Away Wins / OT Losses (0):</a:t>
                </a:r>
                <a:endParaRPr lang="en-FI" sz="1200" dirty="0"/>
              </a:p>
              <a:p>
                <a:pPr lvl="0"/>
                <a:r>
                  <a:rPr lang="en-FI" sz="1200" dirty="0"/>
                  <a:t>Mean home goal count: </a:t>
                </a:r>
                <a:r>
                  <a:rPr lang="en-FI" sz="1200" b="1" dirty="0"/>
                  <a:t>1.81</a:t>
                </a:r>
                <a:r>
                  <a:rPr lang="en-FI" sz="1200" dirty="0"/>
                  <a:t> </a:t>
                </a:r>
                <a:r>
                  <a:rPr lang="en-FI" sz="1200" i="1" dirty="0"/>
                  <a:t>(</a:t>
                </a:r>
                <a:r>
                  <a:rPr lang="en-GB" sz="1200" i="1" dirty="0"/>
                  <a:t>or</a:t>
                </a:r>
                <a:r>
                  <a:rPr lang="en-FI" sz="1200" i="1" dirty="0"/>
                  <a:t> 1.808362)</a:t>
                </a:r>
                <a:endParaRPr lang="en-FI" sz="1200" dirty="0"/>
              </a:p>
              <a:p>
                <a:pPr lvl="0"/>
                <a:r>
                  <a:rPr lang="en-FI" sz="1200" dirty="0"/>
                  <a:t>Median home goal count: </a:t>
                </a:r>
                <a:r>
                  <a:rPr lang="en-FI" sz="1200" b="1" dirty="0"/>
                  <a:t>2.0</a:t>
                </a:r>
                <a:endParaRPr lang="en-FI" sz="1200" dirty="0"/>
              </a:p>
              <a:p>
                <a:pPr marL="0" lvl="0" indent="0" algn="l" rtl="0">
                  <a:spcBef>
                    <a:spcPts val="0"/>
                  </a:spcBef>
                  <a:spcAft>
                    <a:spcPts val="0"/>
                  </a:spcAft>
                  <a:buNone/>
                </a:pPr>
                <a:endParaRPr sz="1200" dirty="0">
                  <a:solidFill>
                    <a:schemeClr val="accent2"/>
                  </a:solidFill>
                  <a:highlight>
                    <a:srgbClr val="FFFFFF"/>
                  </a:highlight>
                  <a:latin typeface="Courier New"/>
                  <a:ea typeface="Courier New"/>
                  <a:cs typeface="Courier New"/>
                  <a:sym typeface="Courier New"/>
                </a:endParaRPr>
              </a:p>
            </p:txBody>
          </p:sp>
        </mc:Choice>
        <mc:Fallback xmlns="">
          <p:sp>
            <p:nvSpPr>
              <p:cNvPr id="186" name="Google Shape;186;p8"/>
              <p:cNvSpPr txBox="1">
                <a:spLocks noRot="1" noChangeAspect="1" noMove="1" noResize="1" noEditPoints="1" noAdjustHandles="1" noChangeArrowheads="1" noChangeShapeType="1" noTextEdit="1"/>
              </p:cNvSpPr>
              <p:nvPr/>
            </p:nvSpPr>
            <p:spPr>
              <a:xfrm>
                <a:off x="3237250" y="2884429"/>
                <a:ext cx="4175400" cy="4339619"/>
              </a:xfrm>
              <a:prstGeom prst="rect">
                <a:avLst/>
              </a:prstGeom>
              <a:blipFill>
                <a:blip r:embed="rId4"/>
                <a:stretch>
                  <a:fillRect/>
                </a:stretch>
              </a:blipFill>
              <a:ln>
                <a:noFill/>
              </a:ln>
            </p:spPr>
            <p:txBody>
              <a:bodyPr/>
              <a:lstStyle/>
              <a:p>
                <a:r>
                  <a:rPr lang="en-FI">
                    <a:noFill/>
                  </a:rPr>
                  <a:t> </a:t>
                </a:r>
              </a:p>
            </p:txBody>
          </p:sp>
        </mc:Fallback>
      </mc:AlternateContent>
      <p:sp>
        <p:nvSpPr>
          <p:cNvPr id="188" name="Google Shape;188;p8"/>
          <p:cNvSpPr txBox="1"/>
          <p:nvPr/>
        </p:nvSpPr>
        <p:spPr>
          <a:xfrm>
            <a:off x="3428051" y="7517975"/>
            <a:ext cx="3728549" cy="313902"/>
          </a:xfrm>
          <a:prstGeom prst="rect">
            <a:avLst/>
          </a:prstGeom>
          <a:noFill/>
          <a:ln>
            <a:noFill/>
          </a:ln>
        </p:spPr>
        <p:txBody>
          <a:bodyPr spcFirstLastPara="1" wrap="square" lIns="91425" tIns="91425" rIns="91425" bIns="91425" anchor="t" anchorCtr="0">
            <a:spAutoFit/>
          </a:bodyPr>
          <a:lstStyle/>
          <a:p>
            <a:pPr lvl="0">
              <a:lnSpc>
                <a:spcPct val="105000"/>
              </a:lnSpc>
            </a:pPr>
            <a:r>
              <a:rPr lang="en-FI" sz="800" i="1" dirty="0">
                <a:highlight>
                  <a:schemeClr val="lt1"/>
                </a:highlight>
              </a:rPr>
              <a:t>Pie chart visualizes the comparison of the count of home wins and away wins</a:t>
            </a:r>
            <a:endParaRPr sz="800" i="1" dirty="0">
              <a:solidFill>
                <a:schemeClr val="dk1"/>
              </a:solidFill>
              <a:latin typeface="Lato"/>
              <a:ea typeface="Lato"/>
              <a:cs typeface="Lato"/>
              <a:sym typeface="Lato"/>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AFEAD3C-1355-85E6-1712-0D7F16B1DB7E}"/>
                  </a:ext>
                </a:extLst>
              </p:cNvPr>
              <p:cNvSpPr txBox="1"/>
              <p:nvPr/>
            </p:nvSpPr>
            <p:spPr>
              <a:xfrm>
                <a:off x="3237250" y="2304457"/>
                <a:ext cx="4253650" cy="523220"/>
              </a:xfrm>
              <a:prstGeom prst="rect">
                <a:avLst/>
              </a:prstGeom>
              <a:noFill/>
            </p:spPr>
            <p:txBody>
              <a:bodyPr wrap="square">
                <a:spAutoFit/>
              </a:bodyPr>
              <a:lstStyle/>
              <a:p>
                <a:pPr marL="342900" lvl="0" indent="-342900">
                  <a:buFont typeface="Arial" panose="020B0604020202020204" pitchFamily="34" charset="0"/>
                  <a:buChar char="•"/>
                </a:pPr>
                <a:r>
                  <a:rPr lang="en-FI" b="1" dirty="0">
                    <a:effectLst/>
                    <a:latin typeface="Google Sans Text"/>
                  </a:rPr>
                  <a:t>Home Wins (1):</a:t>
                </a:r>
                <a:r>
                  <a:rPr lang="en-FI" dirty="0">
                    <a:effectLst/>
                    <a:latin typeface="Google Sans Text"/>
                  </a:rPr>
                  <a:t> </a:t>
                </a:r>
                <a14:m>
                  <m:oMath xmlns:m="http://schemas.openxmlformats.org/officeDocument/2006/math">
                    <m:r>
                      <a:rPr lang="en-FI" smtClean="0">
                        <a:latin typeface="Cambria Math" panose="02040503050406030204" pitchFamily="18" charset="0"/>
                      </a:rPr>
                      <m:t>327</m:t>
                    </m:r>
                  </m:oMath>
                </a14:m>
                <a:r>
                  <a:rPr lang="en-FI" dirty="0">
                    <a:effectLst/>
                    <a:latin typeface="Google Sans Text"/>
                  </a:rPr>
                  <a:t>games (</a:t>
                </a:r>
                <a14:m>
                  <m:oMath xmlns:m="http://schemas.openxmlformats.org/officeDocument/2006/math">
                    <m:r>
                      <a:rPr lang="en-FI" smtClean="0">
                        <a:latin typeface="Cambria Math" panose="02040503050406030204" pitchFamily="18" charset="0"/>
                      </a:rPr>
                      <m:t>53.26</m:t>
                    </m:r>
                    <m:r>
                      <a:rPr lang="en-FI" i="0">
                        <a:latin typeface="Cambria Math" panose="02040503050406030204" pitchFamily="18" charset="0"/>
                      </a:rPr>
                      <m:t>%</m:t>
                    </m:r>
                  </m:oMath>
                </a14:m>
                <a:r>
                  <a:rPr lang="en-FI" dirty="0">
                    <a:effectLst/>
                    <a:latin typeface="Google Sans Text"/>
                  </a:rPr>
                  <a:t>)</a:t>
                </a:r>
              </a:p>
              <a:p>
                <a:pPr marL="342900" lvl="0" indent="-342900">
                  <a:buFont typeface="Arial" panose="020B0604020202020204" pitchFamily="34" charset="0"/>
                  <a:buChar char="•"/>
                </a:pPr>
                <a:r>
                  <a:rPr lang="en-FI" b="1" dirty="0">
                    <a:effectLst/>
                    <a:latin typeface="Google Sans Text"/>
                  </a:rPr>
                  <a:t>Away Wins / OT Losses (0):</a:t>
                </a:r>
                <a:r>
                  <a:rPr lang="en-FI" dirty="0">
                    <a:effectLst/>
                    <a:latin typeface="Google Sans Text"/>
                  </a:rPr>
                  <a:t> </a:t>
                </a:r>
                <a14:m>
                  <m:oMath xmlns:m="http://schemas.openxmlformats.org/officeDocument/2006/math">
                    <m:r>
                      <a:rPr lang="en-FI" smtClean="0">
                        <a:latin typeface="Cambria Math" panose="02040503050406030204" pitchFamily="18" charset="0"/>
                      </a:rPr>
                      <m:t>287</m:t>
                    </m:r>
                  </m:oMath>
                </a14:m>
                <a:r>
                  <a:rPr lang="en-FI" dirty="0">
                    <a:effectLst/>
                    <a:latin typeface="Google Sans Text"/>
                  </a:rPr>
                  <a:t>games (</a:t>
                </a:r>
                <a14:m>
                  <m:oMath xmlns:m="http://schemas.openxmlformats.org/officeDocument/2006/math">
                    <m:r>
                      <a:rPr lang="en-FI" smtClean="0">
                        <a:latin typeface="Cambria Math" panose="02040503050406030204" pitchFamily="18" charset="0"/>
                      </a:rPr>
                      <m:t>46.74</m:t>
                    </m:r>
                    <m:r>
                      <a:rPr lang="en-FI" i="0">
                        <a:latin typeface="Cambria Math" panose="02040503050406030204" pitchFamily="18" charset="0"/>
                      </a:rPr>
                      <m:t>%</m:t>
                    </m:r>
                  </m:oMath>
                </a14:m>
                <a:r>
                  <a:rPr lang="en-FI" dirty="0">
                    <a:effectLst/>
                    <a:latin typeface="Google Sans Text"/>
                  </a:rPr>
                  <a:t>)</a:t>
                </a:r>
              </a:p>
            </p:txBody>
          </p:sp>
        </mc:Choice>
        <mc:Fallback xmlns="">
          <p:sp>
            <p:nvSpPr>
              <p:cNvPr id="3" name="TextBox 2">
                <a:extLst>
                  <a:ext uri="{FF2B5EF4-FFF2-40B4-BE49-F238E27FC236}">
                    <a16:creationId xmlns:a16="http://schemas.microsoft.com/office/drawing/2014/main" id="{AAFEAD3C-1355-85E6-1712-0D7F16B1DB7E}"/>
                  </a:ext>
                </a:extLst>
              </p:cNvPr>
              <p:cNvSpPr txBox="1">
                <a:spLocks noRot="1" noChangeAspect="1" noMove="1" noResize="1" noEditPoints="1" noAdjustHandles="1" noChangeArrowheads="1" noChangeShapeType="1" noTextEdit="1"/>
              </p:cNvSpPr>
              <p:nvPr/>
            </p:nvSpPr>
            <p:spPr>
              <a:xfrm>
                <a:off x="3237250" y="2304457"/>
                <a:ext cx="4253650" cy="523220"/>
              </a:xfrm>
              <a:prstGeom prst="rect">
                <a:avLst/>
              </a:prstGeom>
              <a:blipFill>
                <a:blip r:embed="rId5"/>
                <a:stretch>
                  <a:fillRect l="-143" t="-2326" b="-11628"/>
                </a:stretch>
              </a:blipFill>
            </p:spPr>
            <p:txBody>
              <a:bodyPr/>
              <a:lstStyle/>
              <a:p>
                <a:r>
                  <a:rPr lang="en-FI">
                    <a:noFill/>
                  </a:rPr>
                  <a:t> </a:t>
                </a:r>
              </a:p>
            </p:txBody>
          </p:sp>
        </mc:Fallback>
      </mc:AlternateContent>
      <p:pic>
        <p:nvPicPr>
          <p:cNvPr id="6" name="Picture 5">
            <a:extLst>
              <a:ext uri="{FF2B5EF4-FFF2-40B4-BE49-F238E27FC236}">
                <a16:creationId xmlns:a16="http://schemas.microsoft.com/office/drawing/2014/main" id="{3A2220DA-6AD8-D3F4-A074-9650EC56A6EB}"/>
              </a:ext>
            </a:extLst>
          </p:cNvPr>
          <p:cNvPicPr>
            <a:picLocks noChangeAspect="1"/>
          </p:cNvPicPr>
          <p:nvPr/>
        </p:nvPicPr>
        <p:blipFill>
          <a:blip r:embed="rId6"/>
          <a:stretch>
            <a:fillRect/>
          </a:stretch>
        </p:blipFill>
        <p:spPr>
          <a:xfrm>
            <a:off x="4344350" y="7857113"/>
            <a:ext cx="2342379" cy="1876874"/>
          </a:xfrm>
          <a:prstGeom prst="rect">
            <a:avLst/>
          </a:prstGeom>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TotalTime>
  <Words>476</Words>
  <Application>Microsoft Office PowerPoint</Application>
  <PresentationFormat>Custom</PresentationFormat>
  <Paragraphs>27</Paragraphs>
  <Slides>1</Slides>
  <Notes>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vt:i4>
      </vt:variant>
    </vt:vector>
  </HeadingPairs>
  <TitlesOfParts>
    <vt:vector size="13" baseType="lpstr">
      <vt:lpstr>Arial</vt:lpstr>
      <vt:lpstr>Calibri</vt:lpstr>
      <vt:lpstr>Cambria Math</vt:lpstr>
      <vt:lpstr>Courier New</vt:lpstr>
      <vt:lpstr>Google Sans</vt:lpstr>
      <vt:lpstr>Google Sans SemiBold</vt:lpstr>
      <vt:lpstr>Google Sans Text</vt:lpstr>
      <vt:lpstr>Lato</vt:lpstr>
      <vt:lpstr>PT Sans Narrow</vt:lpstr>
      <vt:lpstr>Roboto</vt:lpstr>
      <vt:lpstr>Work Sans</vt:lpstr>
      <vt:lpstr>Simple Light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Oksana Kocherzhat</dc:creator>
  <cp:lastModifiedBy>Oksana Kocherzhat</cp:lastModifiedBy>
  <cp:revision>4</cp:revision>
  <dcterms:modified xsi:type="dcterms:W3CDTF">2026-08-16T12:01:58Z</dcterms:modified>
</cp:coreProperties>
</file>