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Google Sans SemiBold" panose="020B0604020202020204" charset="0"/>
      <p:regular r:id="rId8"/>
      <p:bold r:id="rId9"/>
      <p:italic r:id="rId10"/>
      <p:boldItalic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T Sans Narrow" panose="020B0506020203020204" pitchFamily="34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Work Sans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1444" y="-35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-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512140ae0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512140ae0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name="adj" fmla="val 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name="adj" fmla="val 102819"/>
              </a:avLst>
            </a:prstGeom>
            <a:solidFill>
              <a:srgbClr val="4F4F4F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w="9525" cap="flat" cmpd="sng">
              <a:solidFill>
                <a:srgbClr val="5757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>
            <a:spLocks noGrp="1"/>
          </p:cNvSpPr>
          <p:nvPr>
            <p:ph type="pic" idx="2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2">
  <p:cSld name="TITLE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>
            <a:stCxn id="67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" name="Google Shape;68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9" name="Google Shape;6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CFB9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>
            <a:spLocks noGrp="1"/>
          </p:cNvSpPr>
          <p:nvPr>
            <p:ph type="pic" idx="2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I"/>
          </a:p>
        </p:txBody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3" name="Google Shape;8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7" name="Google Shape;87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8" name="Google Shape;8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1" name="Google Shape;91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FB991"/>
              </a:solidFill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3" name="Google Shape;93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4" name="Google Shape;94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4069DD"/>
            </a:solidFill>
            <a:ln w="9525" cap="flat" cmpd="sng">
              <a:solidFill>
                <a:srgbClr val="4069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8" name="Google Shape;98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" name="Google Shape;100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1" name="Google Shape;101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2" name="Google Shape;102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INSIGHTS/NEXT STEPS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7" name="Google Shape;10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name="adj" fmla="val 50000"/>
              </a:avLst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3"/>
          <p:cNvSpPr>
            <a:spLocks noGrp="1"/>
          </p:cNvSpPr>
          <p:nvPr>
            <p:ph type="pic" idx="3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FI"/>
          </a:p>
        </p:txBody>
      </p:sp>
      <p:sp>
        <p:nvSpPr>
          <p:cNvPr id="110" name="Google Shape;110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3">
  <p:cSld name="CUSTOM_2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" name="Google Shape;113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14" name="Google Shape;114;p4"/>
            <p:cNvCxnSpPr/>
            <p:nvPr/>
          </p:nvCxnSpPr>
          <p:spPr>
            <a:xfrm rot="10800000" flipH="1">
              <a:off x="404725" y="1681475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 rot="10800000" flipH="1">
              <a:off x="404725" y="1736700"/>
              <a:ext cx="6908400" cy="16800"/>
            </a:xfrm>
            <a:prstGeom prst="straightConnector1">
              <a:avLst/>
            </a:prstGeom>
            <a:noFill/>
            <a:ln w="38100" cap="flat" cmpd="sng">
              <a:solidFill>
                <a:srgbClr val="66666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16" name="Google Shape;116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0" name="Google Shape;120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25" name="Google Shape;125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0" name="Google Shape;130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FF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35" name="Google Shape;135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name="adj" fmla="val 50000"/>
              </a:avLst>
            </a:prstGeom>
            <a:solidFill>
              <a:srgbClr val="595959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name="adj" fmla="val 50000"/>
              </a:avLst>
            </a:prstGeom>
            <a:solidFill>
              <a:srgbClr val="B7B7B7"/>
            </a:solidFill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100" i="1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0" name="Google Shape;150;p4"/>
          <p:cNvSpPr>
            <a:spLocks noGrp="1"/>
          </p:cNvSpPr>
          <p:nvPr>
            <p:ph type="pic" idx="2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4">
  <p:cSld name="CUSTOM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55" name="Google Shape;155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56" name="Google Shape;156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1" name="Google Shape;16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65" name="Google Shape;165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EEEE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w="9525" cap="flat" cmpd="sng">
            <a:solidFill>
              <a:srgbClr val="DB44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w="9525" cap="flat" cmpd="sng">
            <a:solidFill>
              <a:srgbClr val="F4B4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w="9525" cap="flat" cmpd="sng">
            <a:solidFill>
              <a:srgbClr val="0F9D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w="9525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0" name="Google Shape;170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1" name="Google Shape;17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w="9525" cap="flat" cmpd="sng">
              <a:solidFill>
                <a:srgbClr val="4285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w="9525" cap="flat" cmpd="sng">
              <a:solidFill>
                <a:srgbClr val="DB44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w="9525" cap="flat" cmpd="sng">
              <a:solidFill>
                <a:srgbClr val="F4B4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w="9525" cap="flat" cmpd="sng">
              <a:solidFill>
                <a:srgbClr val="0F9D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5" name="Google Shape;175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sz="2100"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77" name="Google Shape;177;p5"/>
          <p:cNvSpPr>
            <a:spLocks noGrp="1"/>
          </p:cNvSpPr>
          <p:nvPr>
            <p:ph type="pic" idx="2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sz="1100" i="1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 NOT USE ">
  <p:cSld name="TITLE_2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" name="Google Shape;181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2" name="Google Shape;182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avLst/>
              <a:gdLst/>
              <a:ahLst/>
              <a:cxnLst/>
              <a:rect l="l" t="t" r="r" b="b"/>
              <a:pathLst>
                <a:path w="367556" h="19840" extrusionOk="0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3" name="Google Shape;183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avLst/>
              <a:gdLst/>
              <a:ahLst/>
              <a:cxnLst/>
              <a:rect l="l" t="t" r="r" b="b"/>
              <a:pathLst>
                <a:path w="366343" h="18959" extrusionOk="0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O NOT USE">
  <p:cSld name="CUSTOM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100575" y="1257300"/>
            <a:ext cx="2883300" cy="158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FI" sz="1300" dirty="0"/>
              <a:t>This project seeks to </a:t>
            </a:r>
            <a:r>
              <a:rPr lang="en-FI" sz="1300" dirty="0" err="1"/>
              <a:t>analyze</a:t>
            </a:r>
            <a:r>
              <a:rPr lang="en-FI" sz="1300" dirty="0"/>
              <a:t> match data from the Finnish </a:t>
            </a:r>
            <a:r>
              <a:rPr lang="en-FI" sz="1300" dirty="0" err="1"/>
              <a:t>Liiga</a:t>
            </a:r>
            <a:r>
              <a:rPr lang="en-FI" sz="1300" dirty="0"/>
              <a:t> and answer the following question:</a:t>
            </a:r>
            <a:endParaRPr lang="ru-RU" sz="1300" dirty="0"/>
          </a:p>
          <a:p>
            <a:endParaRPr lang="en-FI" sz="1300" dirty="0"/>
          </a:p>
          <a:p>
            <a:r>
              <a:rPr lang="en-FI" sz="1300" b="1" dirty="0"/>
              <a:t>What underlying performance metrics are most predictive of a home team victory?</a:t>
            </a:r>
            <a:endParaRPr lang="en-FI" sz="1300" dirty="0"/>
          </a:p>
        </p:txBody>
      </p:sp>
      <p:sp>
        <p:nvSpPr>
          <p:cNvPr id="190" name="Google Shape;190;p8"/>
          <p:cNvSpPr txBox="1"/>
          <p:nvPr/>
        </p:nvSpPr>
        <p:spPr>
          <a:xfrm>
            <a:off x="100" y="67050"/>
            <a:ext cx="7772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FI" sz="2800" dirty="0"/>
              <a:t>Finnish </a:t>
            </a:r>
            <a:r>
              <a:rPr lang="en-FI" sz="2800" dirty="0" err="1"/>
              <a:t>Liiga</a:t>
            </a:r>
            <a:endParaRPr sz="25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1763100" y="490850"/>
            <a:ext cx="42462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Aft>
                <a:spcPts val="1200"/>
              </a:spcAft>
            </a:pPr>
            <a:r>
              <a:rPr lang="en-FI" sz="1200" dirty="0"/>
              <a:t>Match Outcome Prediction Project</a:t>
            </a:r>
            <a:endParaRPr sz="1200" dirty="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3257550" y="4027591"/>
            <a:ext cx="4314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75"/>
            </a:pPr>
            <a:r>
              <a:rPr lang="en-FI" sz="1000" b="1" dirty="0">
                <a:highlight>
                  <a:srgbClr val="FFFFFE"/>
                </a:highlight>
              </a:rPr>
              <a:t>In the random forest model above, '</a:t>
            </a:r>
            <a:r>
              <a:rPr lang="en-FI" sz="1000" b="1" dirty="0" err="1">
                <a:highlight>
                  <a:srgbClr val="FFFFFE"/>
                </a:highlight>
              </a:rPr>
              <a:t>xg_diff</a:t>
            </a:r>
            <a:r>
              <a:rPr lang="en-FI" sz="1000" b="1" dirty="0">
                <a:highlight>
                  <a:srgbClr val="FFFFFE"/>
                </a:highlight>
              </a:rPr>
              <a:t>', '</a:t>
            </a:r>
            <a:r>
              <a:rPr lang="en-FI" sz="1000" b="1" dirty="0" err="1">
                <a:highlight>
                  <a:srgbClr val="FFFFFE"/>
                </a:highlight>
              </a:rPr>
              <a:t>home_xg_share</a:t>
            </a:r>
            <a:r>
              <a:rPr lang="en-FI" sz="1000" b="1" dirty="0">
                <a:highlight>
                  <a:srgbClr val="FFFFFE"/>
                </a:highlight>
              </a:rPr>
              <a:t>', '</a:t>
            </a:r>
            <a:r>
              <a:rPr lang="en-FI" sz="1000" b="1" dirty="0" err="1">
                <a:highlight>
                  <a:srgbClr val="FFFFFE"/>
                </a:highlight>
              </a:rPr>
              <a:t>home_xg</a:t>
            </a:r>
            <a:r>
              <a:rPr lang="en-FI" sz="1000" b="1" dirty="0">
                <a:highlight>
                  <a:srgbClr val="FFFFFE"/>
                </a:highlight>
              </a:rPr>
              <a:t>', '</a:t>
            </a:r>
            <a:r>
              <a:rPr lang="en-FI" sz="1000" b="1" dirty="0" err="1">
                <a:highlight>
                  <a:srgbClr val="FFFFFE"/>
                </a:highlight>
              </a:rPr>
              <a:t>away_xg</a:t>
            </a:r>
            <a:r>
              <a:rPr lang="en-FI" sz="1000" b="1" dirty="0">
                <a:highlight>
                  <a:srgbClr val="FFFFFE"/>
                </a:highlight>
              </a:rPr>
              <a:t>', and 'spectators' have the highest importance. These variables are most helpful in predicting the outcome variable, '</a:t>
            </a:r>
            <a:r>
              <a:rPr lang="en-FI" sz="1000" b="1" dirty="0" err="1">
                <a:highlight>
                  <a:srgbClr val="FFFFFE"/>
                </a:highlight>
              </a:rPr>
              <a:t>home_win</a:t>
            </a:r>
            <a:r>
              <a:rPr lang="en-FI" sz="1000" b="1" dirty="0">
                <a:highlight>
                  <a:srgbClr val="FFFFFE"/>
                </a:highlight>
              </a:rPr>
              <a:t>'</a:t>
            </a:r>
            <a:endParaRPr sz="1000" b="1" i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3257550" y="6698850"/>
            <a:ext cx="4060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1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00575" y="3295650"/>
            <a:ext cx="2883300" cy="198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FI" sz="1300" dirty="0">
                <a:highlight>
                  <a:srgbClr val="FFFFFF"/>
                </a:highlight>
              </a:rPr>
              <a:t>Since the target variable (</a:t>
            </a:r>
            <a:r>
              <a:rPr lang="en-FI" sz="1300" dirty="0" err="1">
                <a:highlight>
                  <a:srgbClr val="FFFFFF"/>
                </a:highlight>
              </a:rPr>
              <a:t>home_win</a:t>
            </a:r>
            <a:r>
              <a:rPr lang="en-FI" sz="1300" dirty="0">
                <a:highlight>
                  <a:srgbClr val="FFFFFF"/>
                </a:highlight>
              </a:rPr>
              <a:t>) is categorical, either a logistic regression or tree-based machine learning model can be utilized.</a:t>
            </a:r>
          </a:p>
          <a:p>
            <a:r>
              <a:rPr lang="en-FI" sz="1300" dirty="0">
                <a:highlight>
                  <a:srgbClr val="FFFFFF"/>
                </a:highlight>
              </a:rPr>
              <a:t>The random forest model outperformed the </a:t>
            </a:r>
            <a:r>
              <a:rPr lang="en-FI" sz="1300" dirty="0" err="1">
                <a:highlight>
                  <a:srgbClr val="FFFFFF"/>
                </a:highlight>
              </a:rPr>
              <a:t>XGBoost</a:t>
            </a:r>
            <a:r>
              <a:rPr lang="en-FI" sz="1300" dirty="0">
                <a:highlight>
                  <a:srgbClr val="FFFFFF"/>
                </a:highlight>
              </a:rPr>
              <a:t> model, achieving higher cross-validation ROC-AUC scores and superior sensitivity on holdout test data.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Google Shape;197;p8"/>
              <p:cNvSpPr txBox="1"/>
              <p:nvPr/>
            </p:nvSpPr>
            <p:spPr>
              <a:xfrm>
                <a:off x="70734" y="5734110"/>
                <a:ext cx="2883300" cy="17773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/>
                <a:r>
                  <a:rPr lang="en-FI" sz="1150" dirty="0">
                    <a:highlight>
                      <a:srgbClr val="FFFFFF"/>
                    </a:highlight>
                  </a:rPr>
                  <a:t>While current single-match models show limited predictive power (ROC-AUC ~0.59) due to high in-game variance, this pipeline proves that </a:t>
                </a:r>
                <a14:m>
                  <m:oMath xmlns:m="http://schemas.openxmlformats.org/officeDocument/2006/math">
                    <m:r>
                      <a:rPr lang="en-FI" sz="1150" i="1">
                        <a:highlight>
                          <a:srgbClr val="FFFFFF"/>
                        </a:highlight>
                      </a:rPr>
                      <m:t>𝑥𝐺</m:t>
                    </m:r>
                  </m:oMath>
                </a14:m>
                <a:r>
                  <a:rPr lang="en-FI" sz="1150" dirty="0">
                    <a:highlight>
                      <a:srgbClr val="FFFFFF"/>
                    </a:highlight>
                  </a:rPr>
                  <a:t>metrics are the primary driver of home wins. With further feature engineering (incorporating rolling historical </a:t>
                </a:r>
                <a14:m>
                  <m:oMath xmlns:m="http://schemas.openxmlformats.org/officeDocument/2006/math">
                    <m:r>
                      <a:rPr lang="en-FI" sz="1150" i="1">
                        <a:highlight>
                          <a:srgbClr val="FFFFFF"/>
                        </a:highlight>
                      </a:rPr>
                      <m:t>𝑥𝐺</m:t>
                    </m:r>
                  </m:oMath>
                </a14:m>
                <a:r>
                  <a:rPr lang="en-FI" sz="1150" dirty="0">
                    <a:highlight>
                      <a:srgbClr val="FFFFFF"/>
                    </a:highlight>
                  </a:rPr>
                  <a:t>), this approach can serve as a foundation for pre-game match risk assessment.</a:t>
                </a:r>
                <a:endParaRPr sz="1150" b="1" dirty="0">
                  <a:latin typeface="Google Sans"/>
                  <a:ea typeface="Google Sans"/>
                  <a:cs typeface="Google Sans"/>
                  <a:sym typeface="Google Sans"/>
                </a:endParaRPr>
              </a:p>
            </p:txBody>
          </p:sp>
        </mc:Choice>
        <mc:Fallback>
          <p:sp>
            <p:nvSpPr>
              <p:cNvPr id="197" name="Google Shape;197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4" y="5734110"/>
                <a:ext cx="2883300" cy="1777379"/>
              </a:xfrm>
              <a:prstGeom prst="rect">
                <a:avLst/>
              </a:prstGeom>
              <a:blipFill>
                <a:blip r:embed="rId3"/>
                <a:stretch>
                  <a:fillRect r="-4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Google Shape;198;p8"/>
              <p:cNvSpPr txBox="1"/>
              <p:nvPr/>
            </p:nvSpPr>
            <p:spPr>
              <a:xfrm>
                <a:off x="100575" y="7770725"/>
                <a:ext cx="7058100" cy="15850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FI" sz="1300" dirty="0">
                    <a:highlight>
                      <a:srgbClr val="FFFFFF"/>
                    </a:highlight>
                  </a:rPr>
                  <a:t>Focus on creating high-quality scoring chances (</a:t>
                </a:r>
                <a14:m>
                  <m:oMath xmlns:m="http://schemas.openxmlformats.org/officeDocument/2006/math">
                    <m:r>
                      <a:rPr lang="en-FI" sz="1300" i="1">
                        <a:highlight>
                          <a:srgbClr val="FFFFFF"/>
                        </a:highlight>
                      </a:rPr>
                      <m:t>𝑥𝐺</m:t>
                    </m:r>
                  </m:oMath>
                </a14:m>
                <a:r>
                  <a:rPr lang="en-FI" sz="1300" dirty="0">
                    <a:highlight>
                      <a:srgbClr val="FFFFFF"/>
                    </a:highlight>
                  </a:rPr>
                  <a:t>) instead of total shot count.</a:t>
                </a:r>
                <a:endParaRPr lang="ru-RU" sz="1300" dirty="0">
                  <a:highlight>
                    <a:srgbClr val="FFFFFF"/>
                  </a:highlight>
                </a:endParaRP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FI" sz="1300" dirty="0">
                    <a:highlight>
                      <a:srgbClr val="FFFFFF"/>
                    </a:highlight>
                  </a:rPr>
                  <a:t>Encourage passes into the slot area and controlled zone entries to get better shots.</a:t>
                </a:r>
                <a:endParaRPr lang="ru-RU" sz="1300" dirty="0">
                  <a:highlight>
                    <a:srgbClr val="FFFFFF"/>
                  </a:highlight>
                </a:endParaRP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FI" sz="1300" dirty="0">
                    <a:highlight>
                      <a:srgbClr val="FFFFFF"/>
                    </a:highlight>
                  </a:rPr>
                  <a:t>Start aggressively in home games to control the match from the first period.</a:t>
                </a:r>
                <a:endParaRPr lang="ru-RU" sz="1300" dirty="0">
                  <a:highlight>
                    <a:srgbClr val="FFFFFF"/>
                  </a:highlight>
                </a:endParaRP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FI" sz="1300" dirty="0">
                    <a:highlight>
                      <a:srgbClr val="FFFFFF"/>
                    </a:highlight>
                  </a:rPr>
                  <a:t>Use 5-game rolling averages instead of single-game stats to measure true team form.</a:t>
                </a:r>
                <a:endParaRPr lang="ru-RU" sz="1300" dirty="0">
                  <a:highlight>
                    <a:srgbClr val="FFFFFF"/>
                  </a:highlight>
                </a:endParaRP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FI" sz="1300" dirty="0">
                    <a:highlight>
                      <a:srgbClr val="FFFFFF"/>
                    </a:highlight>
                  </a:rPr>
                  <a:t>Add schedule factors like rest days and travel distance to account for team fatigue.</a:t>
                </a:r>
                <a:endParaRPr lang="ru-RU" sz="1300" dirty="0">
                  <a:highlight>
                    <a:srgbClr val="FFFFFF"/>
                  </a:highlight>
                </a:endParaRPr>
              </a:p>
              <a:p>
                <a:pPr marL="285750" lvl="0" indent="-285750">
                  <a:buFont typeface="Courier New" panose="02070309020205020404" pitchFamily="49" charset="0"/>
                  <a:buChar char="o"/>
                </a:pPr>
                <a:r>
                  <a:rPr lang="en-FI" sz="1300" dirty="0">
                    <a:highlight>
                      <a:srgbClr val="FFFFFF"/>
                    </a:highlight>
                  </a:rPr>
                  <a:t>Use win probabilities (percentages) instead of simple win/loss predictions to assess match risk.</a:t>
                </a:r>
              </a:p>
            </p:txBody>
          </p:sp>
        </mc:Choice>
        <mc:Fallback>
          <p:sp>
            <p:nvSpPr>
              <p:cNvPr id="198" name="Google Shape;198;p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5" y="7770725"/>
                <a:ext cx="7058100" cy="1585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F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EC8978D-D2AB-C9D9-FED4-A52E122DA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864" y="1181338"/>
            <a:ext cx="4433872" cy="27501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Google Sans</vt:lpstr>
      <vt:lpstr>PT Sans Narrow</vt:lpstr>
      <vt:lpstr>Work Sans</vt:lpstr>
      <vt:lpstr>Google Sans SemiBold</vt:lpstr>
      <vt:lpstr>Arial</vt:lpstr>
      <vt:lpstr>Roboto</vt:lpstr>
      <vt:lpstr>Courier New</vt:lpstr>
      <vt:lpstr>Calibri</vt:lpstr>
      <vt:lpstr>Lato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Oksana Kocherzhat</dc:creator>
  <cp:lastModifiedBy>Oksana Kocherzhat</cp:lastModifiedBy>
  <cp:revision>1</cp:revision>
  <dcterms:modified xsi:type="dcterms:W3CDTF">2026-08-23T11:36:07Z</dcterms:modified>
</cp:coreProperties>
</file>