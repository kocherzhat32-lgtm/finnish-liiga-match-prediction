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4"/>
  </p:notesMasterIdLst>
  <p:sldIdLst>
    <p:sldId id="256" r:id="rId3"/>
  </p:sldIdLst>
  <p:sldSz cx="7772400" cy="10058400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SemiBold" panose="020B0604020202020204" charset="0"/>
      <p:regular r:id="rId9"/>
      <p:bold r:id="rId10"/>
      <p:italic r:id="rId11"/>
      <p:boldItalic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T Sans Narrow" panose="020B0506020203020204" pitchFamily="34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Work Sans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1596" y="-150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font" Target="fonts/font22.fntdata"/><Relationship Id="rId3" Type="http://schemas.openxmlformats.org/officeDocument/2006/relationships/slide" Target="slides/slide1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font" Target="fonts/font2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28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d0dca3cdca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d0dca3cdca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>
            <a:stCxn id="67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" name="Google Shape;68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9" name="Google Shape;69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3" name="Google Shape;83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7" name="Google Shape;87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88" name="Google Shape;8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1" name="Google Shape;91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3" name="Google Shape;93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4" name="Google Shape;94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4069DD"/>
            </a:solidFill>
            <a:ln w="9525" cap="flat" cmpd="sng">
              <a:solidFill>
                <a:srgbClr val="4069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7" name="Google Shape;97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98" name="Google Shape;98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1" name="Google Shape;101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2" name="Google Shape;102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6" name="Google Shape;106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07" name="Google Shape;10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3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" name="Google Shape;114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15" name="Google Shape;115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7" name="Google Shape;117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" name="Google Shape;120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1" name="Google Shape;121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40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1" name="Google Shape;151;p4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56" name="Google Shape;156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57" name="Google Shape;15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66" name="Google Shape;166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1" name="Google Shape;171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2" name="Google Shape;17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6" name="Google Shape;176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78" name="Google Shape;178;p5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2" name="Google Shape;182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3" name="Google Shape;183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4" name="Google Shape;184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3" name="Google Shape;19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4" name="Google Shape;19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5" name="Google Shape;19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97" name="Google Shape;19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98" name="Google Shape;19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99" name="Google Shape;19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3" name="Google Shape;203;p9"/>
          <p:cNvCxnSpPr>
            <a:stCxn id="19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5" name="Google Shape;20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06" name="Google Shape;20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08" name="Google Shape;20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09" name="Google Shape;20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1" name="Google Shape;21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2" name="Google Shape;21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4" name="Google Shape;21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17" name="Google Shape;21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18" name="Google Shape;21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0" name="Google Shape;22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1" name="Google Shape;22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2" name="Google Shape;22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223" name="Google Shape;22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4" name="Google Shape;22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" name="Google Shape;22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28" name="Google Shape;228;p9"/>
          <p:cNvCxnSpPr>
            <a:stCxn id="21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0" name="Google Shape;23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1" name="Google Shape;23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3" name="Google Shape;23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4" name="Google Shape;23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6" name="Google Shape;23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37" name="Google Shape;23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39" name="Google Shape;23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2" name="Google Shape;242;p9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10"/>
          <p:cNvCxnSpPr>
            <a:stCxn id="245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6" name="Google Shape;246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47" name="Google Shape;24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49" name="Google Shape;24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1" name="Google Shape;251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56" name="Google Shape;256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257" name="Google Shape;257;p10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" name="Google Shape;260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1" name="Google Shape;26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65" name="Google Shape;265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69" name="Google Shape;269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1" name="Google Shape;271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2" name="Google Shape;272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4069DD"/>
            </a:solidFill>
            <a:ln w="9525" cap="flat" cmpd="sng">
              <a:solidFill>
                <a:srgbClr val="4069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5" name="Google Shape;275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76" name="Google Shape;276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9" name="Google Shape;279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0" name="Google Shape;28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" name="Google Shape;282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10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11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0" name="Google Shape;290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1" name="Google Shape;291;p11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292;p11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93" name="Google Shape;293;p11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11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6" name="Google Shape;296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297" name="Google Shape;297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" name="Google Shape;316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28" name="Google Shape;328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29" name="Google Shape;329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0" name="Google Shape;330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1" name="Google Shape;331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2" name="Google Shape;332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3" name="Google Shape;333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4" name="Google Shape;334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6" name="Google Shape;336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7" name="Google Shape;337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38" name="Google Shape;338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3" name="Google Shape;343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4" name="Google Shape;344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50" name="Google Shape;350;p13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351" name="Google Shape;351;p13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352" name="Google Shape;352;p13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89" name="Google Shape;189;p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latin typeface="Google Sans"/>
                <a:ea typeface="Google Sans"/>
                <a:cs typeface="Google Sans"/>
                <a:sym typeface="Google Sans"/>
              </a:rPr>
              <a:t>Executive Summary: Regression Analysis</a:t>
            </a:r>
            <a:endParaRPr sz="2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1763100" y="948050"/>
            <a:ext cx="4246200" cy="5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1200"/>
              </a:spcAft>
            </a:pPr>
            <a:r>
              <a:rPr lang="en-FI" sz="1200" dirty="0"/>
              <a:t>Finnish </a:t>
            </a:r>
            <a:r>
              <a:rPr lang="en-FI" sz="1200" dirty="0" err="1"/>
              <a:t>Liiga</a:t>
            </a:r>
            <a:r>
              <a:rPr lang="en-FI" sz="1200" dirty="0"/>
              <a:t> Match Outcome Classification Project</a:t>
            </a:r>
            <a:endParaRPr sz="1200" dirty="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3871700" y="5757250"/>
            <a:ext cx="3448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latin typeface="Google Sans"/>
                <a:ea typeface="Google Sans"/>
                <a:cs typeface="Google Sans"/>
                <a:sym typeface="Google Sans"/>
              </a:rPr>
              <a:t>Confusion matrix for logistic regression model</a:t>
            </a:r>
            <a:endParaRPr sz="1000" i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497950" y="1882050"/>
            <a:ext cx="68364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FI" sz="1200" dirty="0"/>
              <a:t>The goal is to develop a machine learning model to classify match outcomes in the Finnish </a:t>
            </a:r>
            <a:r>
              <a:rPr lang="en-FI" sz="1200" dirty="0" err="1"/>
              <a:t>Liiga</a:t>
            </a:r>
            <a:r>
              <a:rPr lang="en-FI" sz="1200" dirty="0"/>
              <a:t>. Earlier analysis showed that higher expected goals (</a:t>
            </a:r>
            <a:r>
              <a:rPr lang="en-FI" dirty="0" err="1"/>
              <a:t>home_xg</a:t>
            </a:r>
            <a:r>
              <a:rPr lang="en-FI" sz="1200" dirty="0"/>
              <a:t>) are significantly associated with winning matches. Because the end goal is to predict game results, it is important to build a model that quantifies how key match metrics influence home team performance. In this phase of the project, a logistic regression model was built to predict </a:t>
            </a:r>
            <a:r>
              <a:rPr lang="en-FI" dirty="0" err="1"/>
              <a:t>home_win</a:t>
            </a:r>
            <a:r>
              <a:rPr lang="en-FI" sz="1200" dirty="0"/>
              <a:t> status.</a:t>
            </a:r>
            <a:endParaRPr sz="12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3" name="Google Shape;363;p15"/>
              <p:cNvSpPr txBox="1"/>
              <p:nvPr/>
            </p:nvSpPr>
            <p:spPr>
              <a:xfrm>
                <a:off x="452500" y="3681243"/>
                <a:ext cx="3448200" cy="2723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r>
                  <a:rPr lang="en-FI" sz="1100" dirty="0"/>
                  <a:t>The variable </a:t>
                </a:r>
                <a:r>
                  <a:rPr lang="en-FI" sz="1100" dirty="0" err="1"/>
                  <a:t>home_win</a:t>
                </a:r>
                <a:r>
                  <a:rPr lang="en-FI" sz="1100" dirty="0"/>
                  <a:t> was selected for this regression model because of the strong relationship seen between expected goals (</a:t>
                </a:r>
                <a14:m>
                  <m:oMath xmlns:m="http://schemas.openxmlformats.org/officeDocument/2006/math">
                    <m:r>
                      <a:rPr lang="en-FI" sz="1100" i="1"/>
                      <m:t>𝑥𝐺</m:t>
                    </m:r>
                  </m:oMath>
                </a14:m>
                <a:r>
                  <a:rPr lang="en-FI" sz="1100" dirty="0"/>
                  <a:t>), attendance, and match outcomes. A logistic regression model was selected because of the binary categorical data type of the target variable.</a:t>
                </a:r>
              </a:p>
              <a:p>
                <a:r>
                  <a:rPr lang="en-FI" sz="1100" b="1" dirty="0"/>
                  <a:t>A LOOK AT THE MODEL RESULTS</a:t>
                </a:r>
                <a:endParaRPr lang="en-FI" sz="1100" dirty="0"/>
              </a:p>
              <a:p>
                <a:r>
                  <a:rPr lang="en-FI" sz="1100" dirty="0"/>
                  <a:t>The logistic regression model achieved a precision of 56% and a recall of 56% (weighted averages). This model achieved an accuracy of 56%, an f1-score of 55%, and a ROC-AUC score of 0.59. For the target class (Home Win), the model demonstrated a recall of 72% and a precision of 58%. These model results inform key insights on match features, discussed in “key insights.”</a:t>
                </a:r>
              </a:p>
            </p:txBody>
          </p:sp>
        </mc:Choice>
        <mc:Fallback>
          <p:sp>
            <p:nvSpPr>
              <p:cNvPr id="363" name="Google Shape;363;p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00" y="3681243"/>
                <a:ext cx="3448200" cy="27237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4" name="Google Shape;364;p15"/>
          <p:cNvSpPr txBox="1"/>
          <p:nvPr/>
        </p:nvSpPr>
        <p:spPr>
          <a:xfrm>
            <a:off x="437900" y="7080875"/>
            <a:ext cx="34482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FI" sz="1200" dirty="0"/>
              <a:t>The next step is to construct a classification model that will predict the outcome of matches in the Finnish </a:t>
            </a:r>
            <a:r>
              <a:rPr lang="en-FI" sz="1200" dirty="0" err="1"/>
              <a:t>Liiga</a:t>
            </a:r>
            <a:r>
              <a:rPr lang="en-FI" sz="1200" dirty="0"/>
              <a:t>. That is the final project and original expectation for the match outcome analysis. Now, there is enough information to </a:t>
            </a:r>
            <a:r>
              <a:rPr lang="en-FI" sz="1200" dirty="0" err="1"/>
              <a:t>analyze</a:t>
            </a:r>
            <a:r>
              <a:rPr lang="en-FI" sz="1200" dirty="0"/>
              <a:t> the results of that model with helpful context around team performance and expected goals metrics.</a:t>
            </a:r>
            <a:endParaRPr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3886100" y="3645850"/>
            <a:ext cx="3448200" cy="204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FI" sz="1100" dirty="0"/>
              <a:t>Based on the estimated model coefficients from the logistic regression, higher home expected goals (</a:t>
            </a:r>
            <a:r>
              <a:rPr lang="en-FI" sz="1100" dirty="0" err="1"/>
              <a:t>home_xg</a:t>
            </a:r>
            <a:r>
              <a:rPr lang="en-FI" sz="1100" dirty="0"/>
              <a:t>) and lower away expected goals (</a:t>
            </a:r>
            <a:r>
              <a:rPr lang="en-FI" sz="1100" dirty="0" err="1"/>
              <a:t>away_xg</a:t>
            </a:r>
            <a:r>
              <a:rPr lang="en-FI" sz="1100" dirty="0"/>
              <a:t>) tend to be associated with higher odds of a home win.</a:t>
            </a:r>
          </a:p>
          <a:p>
            <a:r>
              <a:rPr lang="en-FI" sz="1100" dirty="0"/>
              <a:t>Other match features, such as attendance (spectators), have very small estimated coefficients in the model, so their association with home win status seems to be small. As a result, other match features besides expected goals do not seem to be strongly associated with home win status.</a:t>
            </a:r>
          </a:p>
        </p:txBody>
      </p:sp>
      <p:sp>
        <p:nvSpPr>
          <p:cNvPr id="366" name="Google Shape;366;p15"/>
          <p:cNvSpPr txBox="1"/>
          <p:nvPr/>
        </p:nvSpPr>
        <p:spPr>
          <a:xfrm>
            <a:off x="4023751" y="8618567"/>
            <a:ext cx="34482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FI" sz="900" dirty="0"/>
              <a:t>Upper-left: the number of matches resulting in non-home wins. Upper-right: the number of matches resulting in non-home wins. Lower-left: the number of matches resulting in home wins. Lower-right: the number of matches resulting in home wins.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39664-6D40-EF83-F05B-D9CCDE479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700" y="6134553"/>
            <a:ext cx="3325927" cy="2551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431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PT Sans Narrow</vt:lpstr>
      <vt:lpstr>Work Sans</vt:lpstr>
      <vt:lpstr>Google Sans SemiBold</vt:lpstr>
      <vt:lpstr>Roboto</vt:lpstr>
      <vt:lpstr>Lato</vt:lpstr>
      <vt:lpstr>Calibri</vt:lpstr>
      <vt:lpstr>Arial</vt:lpstr>
      <vt:lpstr>Google Sans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Oksana Kocherzhat</dc:creator>
  <cp:lastModifiedBy>Oksana Kocherzhat</cp:lastModifiedBy>
  <cp:revision>3</cp:revision>
  <dcterms:modified xsi:type="dcterms:W3CDTF">2026-08-19T10:30:04Z</dcterms:modified>
</cp:coreProperties>
</file>