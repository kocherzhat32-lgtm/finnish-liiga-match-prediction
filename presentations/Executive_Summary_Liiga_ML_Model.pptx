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3"/>
  </p:notesMasterIdLst>
  <p:sldIdLst>
    <p:sldId id="256" r:id="rId2"/>
  </p:sldIdLst>
  <p:sldSz cx="7772400" cy="10058400"/>
  <p:notesSz cx="6858000" cy="9144000"/>
  <p:embeddedFontLst>
    <p:embeddedFont>
      <p:font typeface="Google Sans" panose="020B0604020202020204" charset="0"/>
      <p:regular r:id="rId4"/>
      <p:bold r:id="rId5"/>
      <p:italic r:id="rId6"/>
      <p:boldItalic r:id="rId7"/>
    </p:embeddedFont>
    <p:embeddedFont>
      <p:font typeface="Google Sans SemiBold" panose="020B0604020202020204" charset="0"/>
      <p:regular r:id="rId8"/>
      <p:bold r:id="rId9"/>
      <p:italic r:id="rId10"/>
      <p:boldItalic r:id="rId11"/>
    </p:embeddedFont>
    <p:embeddedFont>
      <p:font typeface="Lato" panose="020F0502020204030203" pitchFamily="34" charset="0"/>
      <p:regular r:id="rId12"/>
      <p:bold r:id="rId13"/>
      <p:italic r:id="rId14"/>
      <p:boldItalic r:id="rId15"/>
    </p:embeddedFont>
    <p:embeddedFont>
      <p:font typeface="PT Sans Narrow" panose="020B0506020203020204" pitchFamily="34" charset="0"/>
      <p:regular r:id="rId16"/>
      <p:bold r:id="rId17"/>
    </p:embeddedFont>
    <p:embeddedFont>
      <p:font typeface="Roboto" panose="02000000000000000000" pitchFamily="2" charset="0"/>
      <p:regular r:id="rId18"/>
      <p:bold r:id="rId19"/>
      <p:italic r:id="rId20"/>
      <p:boldItalic r:id="rId21"/>
    </p:embeddedFont>
    <p:embeddedFont>
      <p:font typeface="Work Sans"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2" d="100"/>
          <a:sy n="82" d="100"/>
        </p:scale>
        <p:origin x="1172" y="-1460"/>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font" Target="fonts/font15.fntdata"/><Relationship Id="rId26" Type="http://schemas.openxmlformats.org/officeDocument/2006/relationships/presProps" Target="presProps.xml"/><Relationship Id="rId3" Type="http://schemas.openxmlformats.org/officeDocument/2006/relationships/notesMaster" Target="notesMasters/notesMaster1.xml"/><Relationship Id="rId21" Type="http://schemas.openxmlformats.org/officeDocument/2006/relationships/font" Target="fonts/font18.fntdata"/><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5" Type="http://schemas.openxmlformats.org/officeDocument/2006/relationships/font" Target="fonts/font22.fntdata"/><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font" Target="fonts/font1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font" Target="fonts/font21.fntdata"/><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font" Target="fonts/font20.fntdata"/><Relationship Id="rId28" Type="http://schemas.openxmlformats.org/officeDocument/2006/relationships/theme" Target="theme/theme1.xml"/><Relationship Id="rId10" Type="http://schemas.openxmlformats.org/officeDocument/2006/relationships/font" Target="fonts/font7.fntdata"/><Relationship Id="rId19" Type="http://schemas.openxmlformats.org/officeDocument/2006/relationships/font" Target="fonts/font16.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font" Target="fonts/font1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512140ae02_0_79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512140ae02_0_7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a:stCxn id="67"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68" name="Google Shape;68;p3"/>
          <p:cNvGrpSpPr/>
          <p:nvPr/>
        </p:nvGrpSpPr>
        <p:grpSpPr>
          <a:xfrm>
            <a:off x="190345" y="900758"/>
            <a:ext cx="7581747" cy="5906"/>
            <a:chOff x="1890075" y="5241175"/>
            <a:chExt cx="4240556" cy="257700"/>
          </a:xfrm>
        </p:grpSpPr>
        <p:sp>
          <p:nvSpPr>
            <p:cNvPr id="69" name="Google Shape;69;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3"/>
          <p:cNvGrpSpPr/>
          <p:nvPr/>
        </p:nvGrpSpPr>
        <p:grpSpPr>
          <a:xfrm>
            <a:off x="190320" y="900657"/>
            <a:ext cx="7581691" cy="5901"/>
            <a:chOff x="1890075" y="5241175"/>
            <a:chExt cx="4240556" cy="257700"/>
          </a:xfrm>
        </p:grpSpPr>
        <p:sp>
          <p:nvSpPr>
            <p:cNvPr id="83" name="Google Shape;83;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4" name="Google Shape;84;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5" name="Google Shape;85;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7" name="Google Shape;87;p3"/>
          <p:cNvGrpSpPr/>
          <p:nvPr/>
        </p:nvGrpSpPr>
        <p:grpSpPr>
          <a:xfrm>
            <a:off x="190320" y="931759"/>
            <a:ext cx="7581691" cy="5901"/>
            <a:chOff x="1890075" y="5241175"/>
            <a:chExt cx="4240556" cy="257700"/>
          </a:xfrm>
        </p:grpSpPr>
        <p:sp>
          <p:nvSpPr>
            <p:cNvPr id="88" name="Google Shape;8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7" name="Google Shape;67;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9" name="Google Shape;89;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0" name="Google Shape;90;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1" name="Google Shape;91;p3"/>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2" name="Google Shape;92;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3" name="Google Shape;93;p3"/>
          <p:cNvGrpSpPr/>
          <p:nvPr/>
        </p:nvGrpSpPr>
        <p:grpSpPr>
          <a:xfrm>
            <a:off x="172024" y="1040825"/>
            <a:ext cx="137818" cy="187200"/>
            <a:chOff x="507100" y="1997600"/>
            <a:chExt cx="158375" cy="187200"/>
          </a:xfrm>
        </p:grpSpPr>
        <p:sp>
          <p:nvSpPr>
            <p:cNvPr id="94" name="Google Shape;94;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97" name="Google Shape;97;p3"/>
          <p:cNvGrpSpPr/>
          <p:nvPr/>
        </p:nvGrpSpPr>
        <p:grpSpPr>
          <a:xfrm>
            <a:off x="190349" y="2907725"/>
            <a:ext cx="137818" cy="187200"/>
            <a:chOff x="507100" y="1540400"/>
            <a:chExt cx="158375" cy="187200"/>
          </a:xfrm>
        </p:grpSpPr>
        <p:sp>
          <p:nvSpPr>
            <p:cNvPr id="98" name="Google Shape;98;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1" name="Google Shape;101;p3"/>
          <p:cNvGrpSpPr/>
          <p:nvPr/>
        </p:nvGrpSpPr>
        <p:grpSpPr>
          <a:xfrm>
            <a:off x="172024" y="5506200"/>
            <a:ext cx="137818" cy="187200"/>
            <a:chOff x="507100" y="1997600"/>
            <a:chExt cx="158375" cy="187200"/>
          </a:xfrm>
        </p:grpSpPr>
        <p:sp>
          <p:nvSpPr>
            <p:cNvPr id="102" name="Google Shape;102;p3"/>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5" name="Google Shape;105;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6" name="Google Shape;106;p3"/>
          <p:cNvGrpSpPr/>
          <p:nvPr/>
        </p:nvGrpSpPr>
        <p:grpSpPr>
          <a:xfrm>
            <a:off x="172024" y="7607808"/>
            <a:ext cx="137818" cy="187200"/>
            <a:chOff x="507100" y="1997600"/>
            <a:chExt cx="158375" cy="187200"/>
          </a:xfrm>
        </p:grpSpPr>
        <p:sp>
          <p:nvSpPr>
            <p:cNvPr id="107" name="Google Shape;107;p3"/>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0" name="Google Shape;110;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1" name="Google Shape;111;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2"/>
        <p:cNvGrpSpPr/>
        <p:nvPr/>
      </p:nvGrpSpPr>
      <p:grpSpPr>
        <a:xfrm>
          <a:off x="0" y="0"/>
          <a:ext cx="0" cy="0"/>
          <a:chOff x="0" y="0"/>
          <a:chExt cx="0" cy="0"/>
        </a:xfrm>
      </p:grpSpPr>
      <p:cxnSp>
        <p:nvCxnSpPr>
          <p:cNvPr id="113" name="Google Shape;113;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4" name="Google Shape;114;p4"/>
          <p:cNvGrpSpPr/>
          <p:nvPr/>
        </p:nvGrpSpPr>
        <p:grpSpPr>
          <a:xfrm>
            <a:off x="404725" y="1300475"/>
            <a:ext cx="6908400" cy="72025"/>
            <a:chOff x="404725" y="1681475"/>
            <a:chExt cx="6908400" cy="72025"/>
          </a:xfrm>
        </p:grpSpPr>
        <p:cxnSp>
          <p:nvCxnSpPr>
            <p:cNvPr id="115" name="Google Shape;115;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16" name="Google Shape;116;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17" name="Google Shape;117;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18" name="Google Shape;118;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19" name="Google Shape;119;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0" name="Google Shape;120;p4"/>
          <p:cNvGrpSpPr/>
          <p:nvPr/>
        </p:nvGrpSpPr>
        <p:grpSpPr>
          <a:xfrm>
            <a:off x="417975" y="1504250"/>
            <a:ext cx="2357775" cy="410125"/>
            <a:chOff x="417975" y="1885250"/>
            <a:chExt cx="2357775" cy="410125"/>
          </a:xfrm>
        </p:grpSpPr>
        <p:sp>
          <p:nvSpPr>
            <p:cNvPr id="121" name="Google Shape;121;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417975" y="3276600"/>
            <a:ext cx="2357775" cy="410125"/>
            <a:chOff x="265575" y="3352800"/>
            <a:chExt cx="2357775" cy="410125"/>
          </a:xfrm>
        </p:grpSpPr>
        <p:sp>
          <p:nvSpPr>
            <p:cNvPr id="126" name="Google Shape;126;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3872044" y="3276600"/>
            <a:ext cx="2747987" cy="410125"/>
            <a:chOff x="3567313" y="3200400"/>
            <a:chExt cx="2357775" cy="410125"/>
          </a:xfrm>
        </p:grpSpPr>
        <p:sp>
          <p:nvSpPr>
            <p:cNvPr id="131" name="Google Shape;131;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417963" y="6597750"/>
            <a:ext cx="2357775" cy="410125"/>
            <a:chOff x="-39237" y="6140550"/>
            <a:chExt cx="2357775" cy="410125"/>
          </a:xfrm>
        </p:grpSpPr>
        <p:sp>
          <p:nvSpPr>
            <p:cNvPr id="136" name="Google Shape;136;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 name="Google Shape;140;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1" name="Google Shape;141;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2" name="Google Shape;142;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3" name="Google Shape;143;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4" name="Google Shape;144;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5" name="Google Shape;145;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6" name="Google Shape;146;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7" name="Google Shape;147;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8" name="Google Shape;148;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49" name="Google Shape;149;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0" name="Google Shape;150;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1" name="Google Shape;151;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2" name="Google Shape;152;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3"/>
        <p:cNvGrpSpPr/>
        <p:nvPr/>
      </p:nvGrpSpPr>
      <p:grpSpPr>
        <a:xfrm>
          <a:off x="0" y="0"/>
          <a:ext cx="0" cy="0"/>
          <a:chOff x="0" y="0"/>
          <a:chExt cx="0" cy="0"/>
        </a:xfrm>
      </p:grpSpPr>
      <p:sp>
        <p:nvSpPr>
          <p:cNvPr id="154" name="Google Shape;154;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55" name="Google Shape;155;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56" name="Google Shape;156;p5"/>
          <p:cNvGrpSpPr/>
          <p:nvPr/>
        </p:nvGrpSpPr>
        <p:grpSpPr>
          <a:xfrm>
            <a:off x="95351" y="1392509"/>
            <a:ext cx="7581691" cy="5901"/>
            <a:chOff x="1890075" y="5241175"/>
            <a:chExt cx="4240556" cy="257700"/>
          </a:xfrm>
        </p:grpSpPr>
        <p:sp>
          <p:nvSpPr>
            <p:cNvPr id="157" name="Google Shape;15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8" name="Google Shape;15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9" name="Google Shape;15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0" name="Google Shape;16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1" name="Google Shape;161;p5"/>
          <p:cNvGrpSpPr/>
          <p:nvPr/>
        </p:nvGrpSpPr>
        <p:grpSpPr>
          <a:xfrm>
            <a:off x="95351" y="4542984"/>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66" name="Google Shape;166;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67" name="Google Shape;167;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68" name="Google Shape;168;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69" name="Google Shape;169;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0" name="Google Shape;170;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1" name="Google Shape;171;p5"/>
          <p:cNvGrpSpPr/>
          <p:nvPr/>
        </p:nvGrpSpPr>
        <p:grpSpPr>
          <a:xfrm>
            <a:off x="95351" y="8200359"/>
            <a:ext cx="7581691" cy="5901"/>
            <a:chOff x="1890075" y="5241175"/>
            <a:chExt cx="4240556" cy="257700"/>
          </a:xfrm>
        </p:grpSpPr>
        <p:sp>
          <p:nvSpPr>
            <p:cNvPr id="172" name="Google Shape;17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3" name="Google Shape;17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4" name="Google Shape;17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5" name="Google Shape;17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6" name="Google Shape;176;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FI"/>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77"/>
        <p:cNvGrpSpPr/>
        <p:nvPr/>
      </p:nvGrpSpPr>
      <p:grpSpPr>
        <a:xfrm>
          <a:off x="0" y="0"/>
          <a:ext cx="0" cy="0"/>
          <a:chOff x="0" y="0"/>
          <a:chExt cx="0" cy="0"/>
        </a:xfrm>
      </p:grpSpPr>
      <p:sp>
        <p:nvSpPr>
          <p:cNvPr id="178" name="Google Shape;178;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79" name="Google Shape;179;p6"/>
          <p:cNvGrpSpPr/>
          <p:nvPr/>
        </p:nvGrpSpPr>
        <p:grpSpPr>
          <a:xfrm>
            <a:off x="-16250" y="9048087"/>
            <a:ext cx="7804900" cy="1072407"/>
            <a:chOff x="-19118" y="4617750"/>
            <a:chExt cx="9182236" cy="548378"/>
          </a:xfrm>
        </p:grpSpPr>
        <p:sp>
          <p:nvSpPr>
            <p:cNvPr id="180" name="Google Shape;180;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1" name="Google Shape;181;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8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8"/>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dirty="0">
                <a:latin typeface="Google Sans"/>
                <a:ea typeface="Google Sans"/>
                <a:cs typeface="Google Sans"/>
                <a:sym typeface="Google Sans"/>
              </a:rPr>
              <a:t>Machine Learning Model Outcomes</a:t>
            </a:r>
            <a:endParaRPr sz="2100" b="1" dirty="0">
              <a:latin typeface="Google Sans"/>
              <a:ea typeface="Google Sans"/>
              <a:cs typeface="Google Sans"/>
              <a:sym typeface="Google Sans"/>
            </a:endParaRPr>
          </a:p>
        </p:txBody>
      </p:sp>
      <p:sp>
        <p:nvSpPr>
          <p:cNvPr id="188" name="Google Shape;188;p8"/>
          <p:cNvSpPr txBox="1"/>
          <p:nvPr/>
        </p:nvSpPr>
        <p:spPr>
          <a:xfrm>
            <a:off x="1181626" y="922055"/>
            <a:ext cx="5517397" cy="523190"/>
          </a:xfrm>
          <a:prstGeom prst="rect">
            <a:avLst/>
          </a:prstGeom>
          <a:noFill/>
          <a:ln>
            <a:noFill/>
          </a:ln>
        </p:spPr>
        <p:txBody>
          <a:bodyPr spcFirstLastPara="1" wrap="square" lIns="91425" tIns="91425" rIns="91425" bIns="91425" anchor="t" anchorCtr="0">
            <a:spAutoFit/>
          </a:bodyPr>
          <a:lstStyle/>
          <a:p>
            <a:pPr lvl="0" algn="ctr">
              <a:spcAft>
                <a:spcPts val="1200"/>
              </a:spcAft>
            </a:pPr>
            <a:r>
              <a:rPr lang="en-FI" sz="1200" dirty="0"/>
              <a:t>Executive summary report for the Finnish </a:t>
            </a:r>
            <a:r>
              <a:rPr lang="en-FI" sz="1200" dirty="0" err="1"/>
              <a:t>Liiga</a:t>
            </a:r>
            <a:r>
              <a:rPr lang="en-FI" sz="1200" dirty="0"/>
              <a:t> home win classification model</a:t>
            </a:r>
            <a:endParaRPr sz="1200" dirty="0">
              <a:solidFill>
                <a:srgbClr val="000000"/>
              </a:solidFill>
              <a:latin typeface="PT Sans Narrow"/>
              <a:ea typeface="PT Sans Narrow"/>
              <a:cs typeface="PT Sans Narrow"/>
              <a:sym typeface="PT Sans Narrow"/>
            </a:endParaRPr>
          </a:p>
        </p:txBody>
      </p:sp>
      <mc:AlternateContent xmlns:mc="http://schemas.openxmlformats.org/markup-compatibility/2006">
        <mc:Choice xmlns:a14="http://schemas.microsoft.com/office/drawing/2010/main" Requires="a14">
          <p:sp>
            <p:nvSpPr>
              <p:cNvPr id="189" name="Google Shape;189;p8"/>
              <p:cNvSpPr txBox="1"/>
              <p:nvPr/>
            </p:nvSpPr>
            <p:spPr>
              <a:xfrm>
                <a:off x="2169175" y="1383734"/>
                <a:ext cx="5449500" cy="1292631"/>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FI" sz="1200" dirty="0"/>
                  <a:t>This project seeks to develop a machine learning model to assist in the classification of Finnish </a:t>
                </a:r>
                <a:r>
                  <a:rPr lang="en-FI" sz="1200" dirty="0" err="1"/>
                  <a:t>Liiga</a:t>
                </a:r>
                <a:r>
                  <a:rPr lang="en-FI" sz="1200" dirty="0"/>
                  <a:t> match outcomes as either home wins or non-home wins. Previous investigation into the available data revealed that expected goals (</a:t>
                </a:r>
                <a14:m>
                  <m:oMath xmlns:m="http://schemas.openxmlformats.org/officeDocument/2006/math">
                    <m:r>
                      <a:rPr lang="en-FI" sz="1200" i="1"/>
                      <m:t>𝑥𝐺</m:t>
                    </m:r>
                  </m:oMath>
                </a14:m>
                <a:r>
                  <a:rPr lang="en-FI" sz="1200" dirty="0"/>
                  <a:t>) metrics were indicative of winning matches. The goal is to determine if tree-based ensemble models can effectively classify match outcomes.</a:t>
                </a:r>
                <a:endParaRPr sz="1200" dirty="0">
                  <a:latin typeface="Google Sans"/>
                  <a:ea typeface="Google Sans"/>
                  <a:cs typeface="Google Sans"/>
                  <a:sym typeface="Google Sans"/>
                </a:endParaRPr>
              </a:p>
            </p:txBody>
          </p:sp>
        </mc:Choice>
        <mc:Fallback>
          <p:sp>
            <p:nvSpPr>
              <p:cNvPr id="189" name="Google Shape;189;p8"/>
              <p:cNvSpPr txBox="1">
                <a:spLocks noRot="1" noChangeAspect="1" noMove="1" noResize="1" noEditPoints="1" noAdjustHandles="1" noChangeArrowheads="1" noChangeShapeType="1" noTextEdit="1"/>
              </p:cNvSpPr>
              <p:nvPr/>
            </p:nvSpPr>
            <p:spPr>
              <a:xfrm>
                <a:off x="2169175" y="1383734"/>
                <a:ext cx="5449500" cy="1292631"/>
              </a:xfrm>
              <a:prstGeom prst="rect">
                <a:avLst/>
              </a:prstGeom>
              <a:blipFill>
                <a:blip r:embed="rId3"/>
                <a:stretch>
                  <a:fillRect l="-112"/>
                </a:stretch>
              </a:blipFill>
              <a:ln>
                <a:noFill/>
              </a:ln>
            </p:spPr>
            <p:txBody>
              <a:bodyPr/>
              <a:lstStyle/>
              <a:p>
                <a:r>
                  <a:rPr lang="en-FI">
                    <a:noFill/>
                  </a:rPr>
                  <a:t> </a:t>
                </a:r>
              </a:p>
            </p:txBody>
          </p:sp>
        </mc:Fallback>
      </mc:AlternateContent>
      <p:sp>
        <p:nvSpPr>
          <p:cNvPr id="190" name="Google Shape;190;p8"/>
          <p:cNvSpPr txBox="1"/>
          <p:nvPr/>
        </p:nvSpPr>
        <p:spPr>
          <a:xfrm>
            <a:off x="335300" y="5029200"/>
            <a:ext cx="3865800" cy="923400"/>
          </a:xfrm>
          <a:prstGeom prst="rect">
            <a:avLst/>
          </a:prstGeom>
          <a:noFill/>
          <a:ln>
            <a:noFill/>
          </a:ln>
        </p:spPr>
        <p:txBody>
          <a:bodyPr spcFirstLastPara="1" wrap="square" lIns="91425" tIns="91425" rIns="91425" bIns="91425" anchor="t" anchorCtr="0">
            <a:spAutoFit/>
          </a:bodyPr>
          <a:lstStyle/>
          <a:p>
            <a:pPr lvl="0"/>
            <a:r>
              <a:rPr lang="en-GB" sz="1200" dirty="0">
                <a:latin typeface="Google Sans"/>
                <a:ea typeface="Google Sans"/>
                <a:cs typeface="Google Sans"/>
                <a:sym typeface="Google Sans"/>
              </a:rPr>
              <a:t>Both model architectures—random forest (RF) and </a:t>
            </a:r>
            <a:r>
              <a:rPr lang="en-GB" sz="1200" dirty="0" err="1">
                <a:latin typeface="Google Sans"/>
                <a:ea typeface="Google Sans"/>
                <a:cs typeface="Google Sans"/>
                <a:sym typeface="Google Sans"/>
              </a:rPr>
              <a:t>XGBoost</a:t>
            </a:r>
            <a:r>
              <a:rPr lang="en-GB" sz="1200" dirty="0">
                <a:latin typeface="Google Sans"/>
                <a:ea typeface="Google Sans"/>
                <a:cs typeface="Google Sans"/>
                <a:sym typeface="Google Sans"/>
              </a:rPr>
              <a:t>—performed exceptionally well. The RF model had a better recall score (0.995) and was selected as champion.</a:t>
            </a:r>
          </a:p>
        </p:txBody>
      </p:sp>
      <mc:AlternateContent xmlns:mc="http://schemas.openxmlformats.org/markup-compatibility/2006">
        <mc:Choice xmlns:a14="http://schemas.microsoft.com/office/drawing/2010/main" Requires="a14">
          <p:sp>
            <p:nvSpPr>
              <p:cNvPr id="191" name="Google Shape;191;p8"/>
              <p:cNvSpPr txBox="1"/>
              <p:nvPr/>
            </p:nvSpPr>
            <p:spPr>
              <a:xfrm>
                <a:off x="2169175" y="2539400"/>
                <a:ext cx="5449500" cy="1133806"/>
              </a:xfrm>
              <a:prstGeom prst="rect">
                <a:avLst/>
              </a:prstGeom>
              <a:noFill/>
              <a:ln>
                <a:noFill/>
              </a:ln>
            </p:spPr>
            <p:txBody>
              <a:bodyPr spcFirstLastPara="1" wrap="square" lIns="91425" tIns="91425" rIns="91425" bIns="91425" anchor="t" anchorCtr="0">
                <a:spAutoFit/>
              </a:bodyPr>
              <a:lstStyle/>
              <a:p>
                <a:pPr lvl="0"/>
                <a:r>
                  <a:rPr lang="en-FI" sz="1200" dirty="0"/>
                  <a:t>Hockey match outcomes depend on many factors and can be difficult to predict. Final scores alone do not always show which team played better. Expected goals (</a:t>
                </a:r>
                <a14:m>
                  <m:oMath xmlns:m="http://schemas.openxmlformats.org/officeDocument/2006/math">
                    <m:r>
                      <a:rPr lang="en-FI" sz="1200" i="1"/>
                      <m:t>𝑥𝐺</m:t>
                    </m:r>
                  </m:oMath>
                </a14:m>
                <a:r>
                  <a:rPr lang="en-FI" sz="1200" dirty="0"/>
                  <a:t>) metrics provide a clearer view of team scoring chances. This project seeks a reliable way to classify match results using in-game performance data.</a:t>
                </a:r>
                <a:endParaRPr sz="1200" dirty="0">
                  <a:latin typeface="Google Sans"/>
                  <a:ea typeface="Google Sans"/>
                  <a:cs typeface="Google Sans"/>
                  <a:sym typeface="Google Sans"/>
                </a:endParaRPr>
              </a:p>
            </p:txBody>
          </p:sp>
        </mc:Choice>
        <mc:Fallback>
          <p:sp>
            <p:nvSpPr>
              <p:cNvPr id="191" name="Google Shape;191;p8"/>
              <p:cNvSpPr txBox="1">
                <a:spLocks noRot="1" noChangeAspect="1" noMove="1" noResize="1" noEditPoints="1" noAdjustHandles="1" noChangeArrowheads="1" noChangeShapeType="1" noTextEdit="1"/>
              </p:cNvSpPr>
              <p:nvPr/>
            </p:nvSpPr>
            <p:spPr>
              <a:xfrm>
                <a:off x="2169175" y="2539400"/>
                <a:ext cx="5449500" cy="1133806"/>
              </a:xfrm>
              <a:prstGeom prst="rect">
                <a:avLst/>
              </a:prstGeom>
              <a:blipFill>
                <a:blip r:embed="rId4"/>
                <a:stretch>
                  <a:fillRect l="-112"/>
                </a:stretch>
              </a:blipFill>
              <a:ln>
                <a:noFill/>
              </a:ln>
            </p:spPr>
            <p:txBody>
              <a:bodyPr/>
              <a:lstStyle/>
              <a:p>
                <a:r>
                  <a:rPr lang="en-FI">
                    <a:noFill/>
                  </a:rPr>
                  <a:t> </a:t>
                </a:r>
              </a:p>
            </p:txBody>
          </p:sp>
        </mc:Fallback>
      </mc:AlternateContent>
      <p:sp>
        <p:nvSpPr>
          <p:cNvPr id="192" name="Google Shape;192;p8"/>
          <p:cNvSpPr txBox="1"/>
          <p:nvPr/>
        </p:nvSpPr>
        <p:spPr>
          <a:xfrm>
            <a:off x="2169175" y="3514035"/>
            <a:ext cx="5449500" cy="1107965"/>
          </a:xfrm>
          <a:prstGeom prst="rect">
            <a:avLst/>
          </a:prstGeom>
          <a:noFill/>
          <a:ln>
            <a:noFill/>
          </a:ln>
        </p:spPr>
        <p:txBody>
          <a:bodyPr spcFirstLastPara="1" wrap="square" lIns="91425" tIns="91425" rIns="91425" bIns="91425" anchor="t" anchorCtr="0">
            <a:spAutoFit/>
          </a:bodyPr>
          <a:lstStyle/>
          <a:p>
            <a:pPr lvl="0"/>
            <a:r>
              <a:rPr lang="en-FI" sz="1200" dirty="0"/>
              <a:t>Two tree-based classification models—Random Forest and </a:t>
            </a:r>
            <a:r>
              <a:rPr lang="en-FI" sz="1200" dirty="0" err="1"/>
              <a:t>XGBoost</a:t>
            </a:r>
            <a:r>
              <a:rPr lang="en-FI" sz="1200" dirty="0"/>
              <a:t>—were developed. Both models were tuned using cross-validation and evaluated on a held-out validation dataset, with the champion model selected based on the best ROC-AUC score. The final champion model was then evaluated on a holdout test dataset to estimate future performance.</a:t>
            </a:r>
            <a:endParaRPr sz="1200" dirty="0">
              <a:latin typeface="Google Sans"/>
              <a:ea typeface="Google Sans"/>
              <a:cs typeface="Google Sans"/>
              <a:sym typeface="Google Sans"/>
            </a:endParaRPr>
          </a:p>
        </p:txBody>
      </p:sp>
      <p:sp>
        <p:nvSpPr>
          <p:cNvPr id="193" name="Google Shape;193;p8"/>
          <p:cNvSpPr txBox="1"/>
          <p:nvPr/>
        </p:nvSpPr>
        <p:spPr>
          <a:xfrm>
            <a:off x="335300" y="5843600"/>
            <a:ext cx="3865800" cy="738633"/>
          </a:xfrm>
          <a:prstGeom prst="rect">
            <a:avLst/>
          </a:prstGeom>
          <a:noFill/>
          <a:ln>
            <a:noFill/>
          </a:ln>
        </p:spPr>
        <p:txBody>
          <a:bodyPr spcFirstLastPara="1" wrap="square" lIns="91425" tIns="91425" rIns="91425" bIns="91425" anchor="t" anchorCtr="0">
            <a:spAutoFit/>
          </a:bodyPr>
          <a:lstStyle/>
          <a:p>
            <a:pPr lvl="0"/>
            <a:r>
              <a:rPr lang="en-FI" sz="1200" dirty="0"/>
              <a:t>Performance on the test holdout data yielded an overall accuracy of 58%, with 49 misclassified samples out of 117.</a:t>
            </a:r>
            <a:endParaRPr sz="1200" dirty="0">
              <a:latin typeface="Google Sans"/>
              <a:ea typeface="Google Sans"/>
              <a:cs typeface="Google Sans"/>
              <a:sym typeface="Google Sans"/>
            </a:endParaRPr>
          </a:p>
        </p:txBody>
      </p:sp>
      <p:sp>
        <p:nvSpPr>
          <p:cNvPr id="194" name="Google Shape;194;p8"/>
          <p:cNvSpPr txBox="1"/>
          <p:nvPr/>
        </p:nvSpPr>
        <p:spPr>
          <a:xfrm>
            <a:off x="335300" y="6461950"/>
            <a:ext cx="3969000" cy="1692741"/>
          </a:xfrm>
          <a:prstGeom prst="rect">
            <a:avLst/>
          </a:prstGeom>
          <a:noFill/>
          <a:ln>
            <a:noFill/>
          </a:ln>
        </p:spPr>
        <p:txBody>
          <a:bodyPr spcFirstLastPara="1" wrap="square" lIns="91425" tIns="91425" rIns="91425" bIns="91425" anchor="t" anchorCtr="0">
            <a:spAutoFit/>
          </a:bodyPr>
          <a:lstStyle/>
          <a:p>
            <a:pPr lvl="0"/>
            <a:r>
              <a:rPr lang="en-FI" sz="1200" dirty="0"/>
              <a:t>Subsequent analysis indicated that, as expected, the primary predictors were expected goals metrics, with </a:t>
            </a:r>
            <a:r>
              <a:rPr lang="en-FI" sz="1200" dirty="0" err="1"/>
              <a:t>xg_diff</a:t>
            </a:r>
            <a:r>
              <a:rPr lang="en-FI" sz="1200" dirty="0"/>
              <a:t> and </a:t>
            </a:r>
            <a:r>
              <a:rPr lang="en-FI" sz="1200" dirty="0" err="1"/>
              <a:t>home_xg_share</a:t>
            </a:r>
            <a:r>
              <a:rPr lang="en-FI" sz="1200" dirty="0"/>
              <a:t> accounting for nearly all predictive signal in the data. With these results, we can conclude that matches with higher expected goal differentials were much more likely to result in home wins. In fact, the model correctly identified 48 out of 63 actual home victories.</a:t>
            </a:r>
            <a:endParaRPr sz="1200" dirty="0">
              <a:latin typeface="Google Sans"/>
              <a:ea typeface="Google Sans"/>
              <a:cs typeface="Google Sans"/>
              <a:sym typeface="Google Sans"/>
            </a:endParaRPr>
          </a:p>
        </p:txBody>
      </p:sp>
      <p:sp>
        <p:nvSpPr>
          <p:cNvPr id="195" name="Google Shape;195;p8"/>
          <p:cNvSpPr txBox="1"/>
          <p:nvPr/>
        </p:nvSpPr>
        <p:spPr>
          <a:xfrm>
            <a:off x="440524" y="8550963"/>
            <a:ext cx="7178151" cy="892522"/>
          </a:xfrm>
          <a:prstGeom prst="rect">
            <a:avLst/>
          </a:prstGeom>
          <a:noFill/>
          <a:ln>
            <a:noFill/>
          </a:ln>
        </p:spPr>
        <p:txBody>
          <a:bodyPr spcFirstLastPara="1" wrap="square" lIns="91425" tIns="91425" rIns="91425" bIns="91425" anchor="t" anchorCtr="0">
            <a:spAutoFit/>
          </a:bodyPr>
          <a:lstStyle/>
          <a:p>
            <a:pPr lvl="0"/>
            <a:r>
              <a:rPr lang="en-FI" sz="1150" dirty="0"/>
              <a:t>As noted, the model demonstrated strong sensitivity in detecting home wins on the test holdout data. Before deploying the model into production, further evaluation using additional historical seasons is recommended. Furthermore, monitoring the distributions of expected goals metrics and incorporating rolling team performance features will ensure that the model remains robust to in-season form fluctuations.</a:t>
            </a:r>
            <a:endParaRPr sz="1150" dirty="0">
              <a:latin typeface="Google Sans"/>
              <a:ea typeface="Google Sans"/>
              <a:cs typeface="Google Sans"/>
              <a:sym typeface="Google Sans"/>
            </a:endParaRPr>
          </a:p>
        </p:txBody>
      </p:sp>
      <p:sp>
        <p:nvSpPr>
          <p:cNvPr id="196" name="Google Shape;196;p8"/>
          <p:cNvSpPr txBox="1"/>
          <p:nvPr/>
        </p:nvSpPr>
        <p:spPr>
          <a:xfrm>
            <a:off x="4417016" y="4554759"/>
            <a:ext cx="3050253" cy="923399"/>
          </a:xfrm>
          <a:prstGeom prst="rect">
            <a:avLst/>
          </a:prstGeom>
          <a:noFill/>
          <a:ln>
            <a:noFill/>
          </a:ln>
        </p:spPr>
        <p:txBody>
          <a:bodyPr spcFirstLastPara="1" wrap="square" lIns="91425" tIns="91425" rIns="91425" bIns="91425" anchor="t" anchorCtr="0">
            <a:noAutofit/>
          </a:bodyPr>
          <a:lstStyle/>
          <a:p>
            <a:pPr lvl="0">
              <a:buSzPts val="358"/>
            </a:pPr>
            <a:r>
              <a:rPr lang="en-FI" sz="900" dirty="0"/>
              <a:t>Confusion matrix for the champion model on test holdout data shows 48 correctly predicted home wins and 49 misclassified samples out of 117 total matches.</a:t>
            </a:r>
            <a:endParaRPr sz="900" i="1" dirty="0">
              <a:solidFill>
                <a:srgbClr val="000000"/>
              </a:solidFill>
              <a:latin typeface="Lato"/>
              <a:ea typeface="Lato"/>
              <a:cs typeface="Lato"/>
              <a:sym typeface="Lato"/>
            </a:endParaRPr>
          </a:p>
        </p:txBody>
      </p:sp>
      <p:pic>
        <p:nvPicPr>
          <p:cNvPr id="3" name="Picture 2">
            <a:extLst>
              <a:ext uri="{FF2B5EF4-FFF2-40B4-BE49-F238E27FC236}">
                <a16:creationId xmlns:a16="http://schemas.microsoft.com/office/drawing/2014/main" id="{5375F03D-2566-C457-5669-B9E39B6EBAD0}"/>
              </a:ext>
            </a:extLst>
          </p:cNvPr>
          <p:cNvPicPr>
            <a:picLocks noChangeAspect="1"/>
          </p:cNvPicPr>
          <p:nvPr/>
        </p:nvPicPr>
        <p:blipFill>
          <a:blip r:embed="rId5"/>
          <a:stretch>
            <a:fillRect/>
          </a:stretch>
        </p:blipFill>
        <p:spPr>
          <a:xfrm>
            <a:off x="4189336" y="5316506"/>
            <a:ext cx="3277933" cy="2420057"/>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405</Words>
  <Application>Microsoft Office PowerPoint</Application>
  <PresentationFormat>Custom</PresentationFormat>
  <Paragraphs>10</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Google Sans</vt:lpstr>
      <vt:lpstr>PT Sans Narrow</vt:lpstr>
      <vt:lpstr>Work Sans</vt:lpstr>
      <vt:lpstr>Google Sans SemiBold</vt:lpstr>
      <vt:lpstr>Arial</vt:lpstr>
      <vt:lpstr>Roboto</vt:lpstr>
      <vt:lpstr>Lato</vt:lpstr>
      <vt:lpstr>Calibri</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Oksana Kocherzhat</dc:creator>
  <cp:lastModifiedBy>Oksana Kocherzhat</cp:lastModifiedBy>
  <cp:revision>2</cp:revision>
  <dcterms:modified xsi:type="dcterms:W3CDTF">2026-08-23T10:59:53Z</dcterms:modified>
</cp:coreProperties>
</file>