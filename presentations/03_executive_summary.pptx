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Lato" panose="020F0502020204030203" pitchFamily="34" charset="0"/>
      <p:regular r:id="rId12"/>
      <p:bold r:id="rId13"/>
      <p:italic r:id="rId14"/>
      <p:boldItalic r:id="rId15"/>
    </p:embeddedFont>
    <p:embeddedFont>
      <p:font typeface="PT Sans Narrow" panose="020B0506020203020204" pitchFamily="34" charset="0"/>
      <p:regular r:id="rId16"/>
      <p:bold r:id="rId17"/>
    </p:embeddedFont>
    <p:embeddedFont>
      <p:font typeface="Roboto" panose="02000000000000000000" pitchFamily="2" charset="0"/>
      <p:regular r:id="rId18"/>
      <p:bold r:id="rId19"/>
      <p:italic r:id="rId20"/>
      <p:boldItalic r:id="rId21"/>
    </p:embeddedFont>
    <p:embeddedFont>
      <p:font typeface="Work Sans"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1596" y="-832"/>
      </p:cViewPr>
      <p:guideLst>
        <p:guide orient="horz" pos="3168"/>
        <p:guide pos="2448"/>
      </p:guideLst>
    </p:cSldViewPr>
  </p:slideViewPr>
  <p:notesTextViewPr>
    <p:cViewPr>
      <p:scale>
        <a:sx n="1" d="1"/>
        <a:sy n="1" d="1"/>
      </p:scale>
      <p:origin x="0" y="-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26"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font" Target="fonts/font21.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font" Target="fonts/font20.fntdata"/><Relationship Id="rId28"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font" Target="fonts/font1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390e7c1ade_0_16: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390e7c1ade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1"/>
        <p:cNvGrpSpPr/>
        <p:nvPr/>
      </p:nvGrpSpPr>
      <p:grpSpPr>
        <a:xfrm>
          <a:off x="0" y="0"/>
          <a:ext cx="0" cy="0"/>
          <a:chOff x="0" y="0"/>
          <a:chExt cx="0" cy="0"/>
        </a:xfrm>
      </p:grpSpPr>
      <p:cxnSp>
        <p:nvCxnSpPr>
          <p:cNvPr id="62" name="Google Shape;62;p3"/>
          <p:cNvCxnSpPr>
            <a:stCxn id="63"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4" name="Google Shape;64;p3"/>
          <p:cNvGrpSpPr/>
          <p:nvPr/>
        </p:nvGrpSpPr>
        <p:grpSpPr>
          <a:xfrm>
            <a:off x="190345" y="900758"/>
            <a:ext cx="7581747" cy="5906"/>
            <a:chOff x="1890075" y="5241175"/>
            <a:chExt cx="4240556" cy="257700"/>
          </a:xfrm>
        </p:grpSpPr>
        <p:sp>
          <p:nvSpPr>
            <p:cNvPr id="65" name="Google Shape;65;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6" name="Google Shape;66;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7" name="Google Shape;67;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68" name="Google Shape;68;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69" name="Google Shape;69;p3"/>
          <p:cNvGrpSpPr/>
          <p:nvPr/>
        </p:nvGrpSpPr>
        <p:grpSpPr>
          <a:xfrm>
            <a:off x="190320" y="931759"/>
            <a:ext cx="7581691" cy="5901"/>
            <a:chOff x="1890075" y="5241175"/>
            <a:chExt cx="4240556" cy="257700"/>
          </a:xfrm>
        </p:grpSpPr>
        <p:sp>
          <p:nvSpPr>
            <p:cNvPr id="70" name="Google Shape;70;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3" name="Google Shape;73;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4" name="Google Shape;74;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5" name="Google Shape;75;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76" name="Google Shape;76;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77" name="Google Shape;77;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3"/>
          <p:cNvGrpSpPr/>
          <p:nvPr/>
        </p:nvGrpSpPr>
        <p:grpSpPr>
          <a:xfrm>
            <a:off x="190320" y="900657"/>
            <a:ext cx="7581691" cy="5901"/>
            <a:chOff x="1890075" y="5241175"/>
            <a:chExt cx="4240556" cy="257700"/>
          </a:xfrm>
        </p:grpSpPr>
        <p:sp>
          <p:nvSpPr>
            <p:cNvPr id="79" name="Google Shape;7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0" name="Google Shape;8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1" name="Google Shape;8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2" name="Google Shape;8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3" name="Google Shape;83;p3"/>
          <p:cNvGrpSpPr/>
          <p:nvPr/>
        </p:nvGrpSpPr>
        <p:grpSpPr>
          <a:xfrm>
            <a:off x="190320" y="931759"/>
            <a:ext cx="7581691" cy="5901"/>
            <a:chOff x="1890075" y="5241175"/>
            <a:chExt cx="4240556" cy="257700"/>
          </a:xfrm>
        </p:grpSpPr>
        <p:sp>
          <p:nvSpPr>
            <p:cNvPr id="84" name="Google Shape;8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3" name="Google Shape;63;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87" name="Google Shape;87;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88" name="Google Shape;88;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89" name="Google Shape;89;p3"/>
          <p:cNvGrpSpPr/>
          <p:nvPr/>
        </p:nvGrpSpPr>
        <p:grpSpPr>
          <a:xfrm>
            <a:off x="172024" y="1040825"/>
            <a:ext cx="137818" cy="187200"/>
            <a:chOff x="507100" y="1997600"/>
            <a:chExt cx="158375" cy="187200"/>
          </a:xfrm>
        </p:grpSpPr>
        <p:sp>
          <p:nvSpPr>
            <p:cNvPr id="90" name="Google Shape;90;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 name="Google Shape;92;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3" name="Google Shape;93;p3"/>
          <p:cNvGrpSpPr/>
          <p:nvPr/>
        </p:nvGrpSpPr>
        <p:grpSpPr>
          <a:xfrm>
            <a:off x="190349" y="2907725"/>
            <a:ext cx="137818" cy="187200"/>
            <a:chOff x="507100" y="1540400"/>
            <a:chExt cx="158375" cy="187200"/>
          </a:xfrm>
        </p:grpSpPr>
        <p:sp>
          <p:nvSpPr>
            <p:cNvPr id="94" name="Google Shape;94;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97" name="Google Shape;97;p3"/>
          <p:cNvGrpSpPr/>
          <p:nvPr/>
        </p:nvGrpSpPr>
        <p:grpSpPr>
          <a:xfrm>
            <a:off x="172024" y="5506200"/>
            <a:ext cx="137818" cy="187200"/>
            <a:chOff x="507100" y="1997600"/>
            <a:chExt cx="158375" cy="187200"/>
          </a:xfrm>
        </p:grpSpPr>
        <p:sp>
          <p:nvSpPr>
            <p:cNvPr id="98" name="Google Shape;98;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1" name="Google Shape;101;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2" name="Google Shape;102;p3"/>
          <p:cNvGrpSpPr/>
          <p:nvPr/>
        </p:nvGrpSpPr>
        <p:grpSpPr>
          <a:xfrm>
            <a:off x="172024" y="7607808"/>
            <a:ext cx="137818" cy="187200"/>
            <a:chOff x="507100" y="1997600"/>
            <a:chExt cx="158375" cy="187200"/>
          </a:xfrm>
        </p:grpSpPr>
        <p:sp>
          <p:nvSpPr>
            <p:cNvPr id="103" name="Google Shape;103;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5" name="Google Shape;105;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06" name="Google Shape;106;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07" name="Google Shape;107;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08"/>
        <p:cNvGrpSpPr/>
        <p:nvPr/>
      </p:nvGrpSpPr>
      <p:grpSpPr>
        <a:xfrm>
          <a:off x="0" y="0"/>
          <a:ext cx="0" cy="0"/>
          <a:chOff x="0" y="0"/>
          <a:chExt cx="0" cy="0"/>
        </a:xfrm>
      </p:grpSpPr>
      <p:cxnSp>
        <p:nvCxnSpPr>
          <p:cNvPr id="109" name="Google Shape;109;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0" name="Google Shape;110;p4"/>
          <p:cNvGrpSpPr/>
          <p:nvPr/>
        </p:nvGrpSpPr>
        <p:grpSpPr>
          <a:xfrm>
            <a:off x="404725" y="1300475"/>
            <a:ext cx="6908400" cy="72025"/>
            <a:chOff x="404725" y="1681475"/>
            <a:chExt cx="6908400" cy="72025"/>
          </a:xfrm>
        </p:grpSpPr>
        <p:cxnSp>
          <p:nvCxnSpPr>
            <p:cNvPr id="111" name="Google Shape;111;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2" name="Google Shape;112;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3" name="Google Shape;113;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4" name="Google Shape;114;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5" name="Google Shape;115;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16" name="Google Shape;116;p4"/>
          <p:cNvGrpSpPr/>
          <p:nvPr/>
        </p:nvGrpSpPr>
        <p:grpSpPr>
          <a:xfrm>
            <a:off x="417975" y="1504250"/>
            <a:ext cx="2357775" cy="410125"/>
            <a:chOff x="417975" y="1885250"/>
            <a:chExt cx="2357775" cy="410125"/>
          </a:xfrm>
        </p:grpSpPr>
        <p:sp>
          <p:nvSpPr>
            <p:cNvPr id="117" name="Google Shape;117;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121;p4"/>
          <p:cNvGrpSpPr/>
          <p:nvPr/>
        </p:nvGrpSpPr>
        <p:grpSpPr>
          <a:xfrm>
            <a:off x="417975" y="3276600"/>
            <a:ext cx="2357775" cy="410125"/>
            <a:chOff x="265575" y="3352800"/>
            <a:chExt cx="2357775" cy="410125"/>
          </a:xfrm>
        </p:grpSpPr>
        <p:sp>
          <p:nvSpPr>
            <p:cNvPr id="122" name="Google Shape;122;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 name="Google Shape;126;p4"/>
          <p:cNvGrpSpPr/>
          <p:nvPr/>
        </p:nvGrpSpPr>
        <p:grpSpPr>
          <a:xfrm>
            <a:off x="3872044" y="3276600"/>
            <a:ext cx="2747987" cy="410125"/>
            <a:chOff x="3567313" y="3200400"/>
            <a:chExt cx="2357775" cy="410125"/>
          </a:xfrm>
        </p:grpSpPr>
        <p:sp>
          <p:nvSpPr>
            <p:cNvPr id="127" name="Google Shape;127;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131;p4"/>
          <p:cNvGrpSpPr/>
          <p:nvPr/>
        </p:nvGrpSpPr>
        <p:grpSpPr>
          <a:xfrm>
            <a:off x="417963" y="6597750"/>
            <a:ext cx="2357775" cy="410125"/>
            <a:chOff x="-39237" y="6140550"/>
            <a:chExt cx="2357775" cy="410125"/>
          </a:xfrm>
        </p:grpSpPr>
        <p:sp>
          <p:nvSpPr>
            <p:cNvPr id="132" name="Google Shape;132;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37" name="Google Shape;137;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38" name="Google Shape;138;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39" name="Google Shape;139;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0" name="Google Shape;140;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1" name="Google Shape;141;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2" name="Google Shape;142;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3" name="Google Shape;143;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4" name="Google Shape;144;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5" name="Google Shape;145;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46" name="Google Shape;146;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47" name="Google Shape;147;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48" name="Google Shape;148;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49"/>
        <p:cNvGrpSpPr/>
        <p:nvPr/>
      </p:nvGrpSpPr>
      <p:grpSpPr>
        <a:xfrm>
          <a:off x="0" y="0"/>
          <a:ext cx="0" cy="0"/>
          <a:chOff x="0" y="0"/>
          <a:chExt cx="0" cy="0"/>
        </a:xfrm>
      </p:grpSpPr>
      <p:sp>
        <p:nvSpPr>
          <p:cNvPr id="150" name="Google Shape;150;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1" name="Google Shape;151;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2" name="Google Shape;152;p5"/>
          <p:cNvGrpSpPr/>
          <p:nvPr/>
        </p:nvGrpSpPr>
        <p:grpSpPr>
          <a:xfrm>
            <a:off x="95351" y="1392509"/>
            <a:ext cx="7581691" cy="5901"/>
            <a:chOff x="1890075" y="5241175"/>
            <a:chExt cx="4240556" cy="257700"/>
          </a:xfrm>
        </p:grpSpPr>
        <p:sp>
          <p:nvSpPr>
            <p:cNvPr id="153" name="Google Shape;153;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4" name="Google Shape;154;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5" name="Google Shape;155;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6" name="Google Shape;156;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57" name="Google Shape;157;p5"/>
          <p:cNvGrpSpPr/>
          <p:nvPr/>
        </p:nvGrpSpPr>
        <p:grpSpPr>
          <a:xfrm>
            <a:off x="95351" y="4542984"/>
            <a:ext cx="7581691" cy="5901"/>
            <a:chOff x="1890075" y="5241175"/>
            <a:chExt cx="4240556" cy="257700"/>
          </a:xfrm>
        </p:grpSpPr>
        <p:sp>
          <p:nvSpPr>
            <p:cNvPr id="158" name="Google Shape;15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1" name="Google Shape;16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2" name="Google Shape;162;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3" name="Google Shape;163;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4" name="Google Shape;164;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5" name="Google Shape;165;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66" name="Google Shape;166;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67" name="Google Shape;167;p5"/>
          <p:cNvGrpSpPr/>
          <p:nvPr/>
        </p:nvGrpSpPr>
        <p:grpSpPr>
          <a:xfrm>
            <a:off x="95351" y="8200359"/>
            <a:ext cx="7581691" cy="5901"/>
            <a:chOff x="1890075" y="5241175"/>
            <a:chExt cx="4240556" cy="257700"/>
          </a:xfrm>
        </p:grpSpPr>
        <p:sp>
          <p:nvSpPr>
            <p:cNvPr id="168" name="Google Shape;168;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9" name="Google Shape;169;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0" name="Google Shape;170;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1" name="Google Shape;171;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2" name="Google Shape;172;p5"/>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73" name="Google Shape;173;p5"/>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74" name="Google Shape;174;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sp>
      <p:sp>
        <p:nvSpPr>
          <p:cNvPr id="175" name="Google Shape;175;p5"/>
          <p:cNvSpPr txBox="1"/>
          <p:nvPr/>
        </p:nvSpPr>
        <p:spPr>
          <a:xfrm>
            <a:off x="4326325" y="74569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76"/>
        <p:cNvGrpSpPr/>
        <p:nvPr/>
      </p:nvGrpSpPr>
      <p:grpSpPr>
        <a:xfrm>
          <a:off x="0" y="0"/>
          <a:ext cx="0" cy="0"/>
          <a:chOff x="0" y="0"/>
          <a:chExt cx="0" cy="0"/>
        </a:xfrm>
      </p:grpSpPr>
      <p:sp>
        <p:nvSpPr>
          <p:cNvPr id="177" name="Google Shape;177;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78" name="Google Shape;178;p6"/>
          <p:cNvGrpSpPr/>
          <p:nvPr/>
        </p:nvGrpSpPr>
        <p:grpSpPr>
          <a:xfrm>
            <a:off x="-16250" y="9048087"/>
            <a:ext cx="7804900" cy="1072407"/>
            <a:chOff x="-19118" y="4617750"/>
            <a:chExt cx="9182236" cy="548378"/>
          </a:xfrm>
        </p:grpSpPr>
        <p:sp>
          <p:nvSpPr>
            <p:cNvPr id="179" name="Google Shape;179;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0" name="Google Shape;180;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8"/>
          <p:cNvSpPr txBox="1"/>
          <p:nvPr/>
        </p:nvSpPr>
        <p:spPr>
          <a:xfrm>
            <a:off x="188700" y="1533300"/>
            <a:ext cx="3697500" cy="2850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0"/>
              </a:spcAft>
              <a:buSzPts val="852"/>
              <a:buNone/>
            </a:pPr>
            <a:r>
              <a:rPr lang="en" sz="1375" dirty="0">
                <a:latin typeface="Google Sans SemiBold"/>
                <a:ea typeface="Google Sans SemiBold"/>
                <a:cs typeface="Google Sans SemiBold"/>
                <a:sym typeface="Google Sans SemiBold"/>
              </a:rPr>
              <a:t>Project Overview</a:t>
            </a:r>
            <a:endParaRPr sz="1375" dirty="0">
              <a:solidFill>
                <a:srgbClr val="000000"/>
              </a:solidFill>
              <a:latin typeface="Google Sans SemiBold"/>
              <a:ea typeface="Google Sans SemiBold"/>
              <a:cs typeface="Google Sans SemiBold"/>
              <a:sym typeface="Google Sans SemiBold"/>
            </a:endParaRPr>
          </a:p>
        </p:txBody>
      </p:sp>
      <p:sp>
        <p:nvSpPr>
          <p:cNvPr id="187" name="Google Shape;187;p8"/>
          <p:cNvSpPr txBox="1"/>
          <p:nvPr/>
        </p:nvSpPr>
        <p:spPr>
          <a:xfrm>
            <a:off x="211425" y="1782925"/>
            <a:ext cx="7309500" cy="830966"/>
          </a:xfrm>
          <a:prstGeom prst="rect">
            <a:avLst/>
          </a:prstGeom>
          <a:noFill/>
          <a:ln>
            <a:noFill/>
          </a:ln>
        </p:spPr>
        <p:txBody>
          <a:bodyPr spcFirstLastPara="1" wrap="square" lIns="91425" tIns="91425" rIns="91425" bIns="91425" anchor="t" anchorCtr="0">
            <a:spAutoFit/>
          </a:bodyPr>
          <a:lstStyle/>
          <a:p>
            <a:pPr lvl="0"/>
            <a:r>
              <a:rPr lang="en-FI" dirty="0"/>
              <a:t>This project seeks to develop a machine learning model to assist in the classification of home match outcomes for the Finnish </a:t>
            </a:r>
            <a:r>
              <a:rPr lang="en-FI" dirty="0" err="1"/>
              <a:t>Liiga</a:t>
            </a:r>
            <a:r>
              <a:rPr lang="en-FI" dirty="0"/>
              <a:t>. In this part of the project, a hypothesis test will </a:t>
            </a:r>
            <a:r>
              <a:rPr lang="en-FI" dirty="0" err="1"/>
              <a:t>analyze</a:t>
            </a:r>
            <a:r>
              <a:rPr lang="en-FI" dirty="0"/>
              <a:t> the relationship between </a:t>
            </a:r>
            <a:r>
              <a:rPr lang="en-FI" dirty="0" err="1"/>
              <a:t>home_win</a:t>
            </a:r>
            <a:r>
              <a:rPr lang="en-FI" dirty="0"/>
              <a:t> and </a:t>
            </a:r>
            <a:r>
              <a:rPr lang="en-FI" dirty="0" err="1"/>
              <a:t>home_xg</a:t>
            </a:r>
            <a:r>
              <a:rPr lang="en-FI" dirty="0"/>
              <a:t>.</a:t>
            </a:r>
            <a:endParaRPr dirty="0">
              <a:solidFill>
                <a:schemeClr val="dk1"/>
              </a:solidFill>
              <a:latin typeface="Google Sans"/>
              <a:ea typeface="Google Sans"/>
              <a:cs typeface="Google Sans"/>
              <a:sym typeface="Google Sans"/>
            </a:endParaRPr>
          </a:p>
        </p:txBody>
      </p:sp>
      <p:sp>
        <p:nvSpPr>
          <p:cNvPr id="188" name="Google Shape;188;p8"/>
          <p:cNvSpPr txBox="1"/>
          <p:nvPr/>
        </p:nvSpPr>
        <p:spPr>
          <a:xfrm>
            <a:off x="159876" y="3925075"/>
            <a:ext cx="3089424" cy="6386333"/>
          </a:xfrm>
          <a:prstGeom prst="rect">
            <a:avLst/>
          </a:prstGeom>
          <a:noFill/>
          <a:ln>
            <a:noFill/>
          </a:ln>
        </p:spPr>
        <p:txBody>
          <a:bodyPr spcFirstLastPara="1" wrap="square" lIns="91425" tIns="91425" rIns="91425" bIns="91425" anchor="t" anchorCtr="0">
            <a:spAutoFit/>
          </a:bodyPr>
          <a:lstStyle/>
          <a:p>
            <a:pPr marL="285750" lvl="0" indent="-285750">
              <a:buFont typeface="Wingdings" panose="05000000000000000000" pitchFamily="2" charset="2"/>
              <a:buChar char="q"/>
            </a:pPr>
            <a:r>
              <a:rPr lang="en-FI" dirty="0"/>
              <a:t>The analysis shows that there is a difference in expected goals (</a:t>
            </a:r>
            <a:r>
              <a:rPr lang="en-FI" dirty="0" err="1"/>
              <a:t>home_xg</a:t>
            </a:r>
            <a:r>
              <a:rPr lang="en-FI" dirty="0"/>
              <a:t>) between matches won by home teams and matches won by away teams / OT.</a:t>
            </a:r>
            <a:endParaRPr lang="ru-RU" dirty="0"/>
          </a:p>
          <a:p>
            <a:pPr marL="285750" lvl="0" indent="-285750">
              <a:buFont typeface="Wingdings" panose="05000000000000000000" pitchFamily="2" charset="2"/>
              <a:buChar char="q"/>
            </a:pPr>
            <a:r>
              <a:rPr lang="en-FI" dirty="0"/>
              <a:t>As a result, these findings suggest there might be fundamental performance differences between these two match outcomes: home wins and non-home wins.</a:t>
            </a:r>
            <a:endParaRPr lang="ru-RU" dirty="0"/>
          </a:p>
          <a:p>
            <a:pPr marL="285750" lvl="0" indent="-285750">
              <a:buFont typeface="Wingdings" panose="05000000000000000000" pitchFamily="2" charset="2"/>
              <a:buChar char="q"/>
            </a:pPr>
            <a:r>
              <a:rPr lang="en-FI" dirty="0"/>
              <a:t>It would be interesting to investigate the root cause of this performance difference. For example, consider:</a:t>
            </a:r>
            <a:endParaRPr lang="ru-RU" dirty="0"/>
          </a:p>
          <a:p>
            <a:pPr marL="914400" lvl="1" indent="-317500">
              <a:spcBef>
                <a:spcPts val="1000"/>
              </a:spcBef>
              <a:buSzPts val="1400"/>
              <a:buFont typeface="Google Sans"/>
              <a:buChar char="○"/>
            </a:pPr>
            <a:r>
              <a:rPr lang="en-FI" dirty="0"/>
              <a:t>Do home teams generate higher expected goals due to higher offensive pressure and shot quality at home?</a:t>
            </a:r>
            <a:r>
              <a:rPr lang="en-GB" dirty="0">
                <a:latin typeface="Google Sans"/>
                <a:ea typeface="Google Sans"/>
                <a:cs typeface="Google Sans"/>
                <a:sym typeface="Google Sans"/>
              </a:rPr>
              <a:t> </a:t>
            </a:r>
          </a:p>
          <a:p>
            <a:pPr marL="914400" lvl="1" indent="-317500">
              <a:spcBef>
                <a:spcPts val="1000"/>
              </a:spcBef>
              <a:spcAft>
                <a:spcPts val="1000"/>
              </a:spcAft>
              <a:buSzPts val="1400"/>
              <a:buFont typeface="Google Sans"/>
              <a:buChar char="○"/>
            </a:pPr>
            <a:r>
              <a:rPr lang="en-FI" dirty="0"/>
              <a:t>Or, is the difference in expected goals driven by power play opportunities and penalty discipline?</a:t>
            </a:r>
            <a:endParaRPr lang="en-GB" dirty="0">
              <a:latin typeface="Google Sans"/>
              <a:ea typeface="Google Sans"/>
              <a:cs typeface="Google Sans"/>
              <a:sym typeface="Google Sans"/>
            </a:endParaRPr>
          </a:p>
        </p:txBody>
      </p:sp>
      <p:sp>
        <p:nvSpPr>
          <p:cNvPr id="189" name="Google Shape;189;p8"/>
          <p:cNvSpPr txBox="1"/>
          <p:nvPr/>
        </p:nvSpPr>
        <p:spPr>
          <a:xfrm>
            <a:off x="3350925" y="7778925"/>
            <a:ext cx="4246200" cy="1908184"/>
          </a:xfrm>
          <a:prstGeom prst="rect">
            <a:avLst/>
          </a:prstGeom>
          <a:noFill/>
          <a:ln>
            <a:noFill/>
          </a:ln>
        </p:spPr>
        <p:txBody>
          <a:bodyPr spcFirstLastPara="1" wrap="square" lIns="91425" tIns="91425" rIns="91425" bIns="91425" anchor="t" anchorCtr="0">
            <a:spAutoFit/>
          </a:bodyPr>
          <a:lstStyle/>
          <a:p>
            <a:r>
              <a:rPr lang="en-FI" dirty="0"/>
              <a:t>It is recommended to move forward and build a regression model on </a:t>
            </a:r>
            <a:r>
              <a:rPr lang="en-FI" dirty="0" err="1"/>
              <a:t>home_win</a:t>
            </a:r>
            <a:r>
              <a:rPr lang="en-FI" dirty="0"/>
              <a:t> status.</a:t>
            </a:r>
          </a:p>
          <a:p>
            <a:r>
              <a:rPr lang="en-FI" dirty="0"/>
              <a:t>A regression model for </a:t>
            </a:r>
            <a:r>
              <a:rPr lang="en-FI" dirty="0" err="1"/>
              <a:t>home_win</a:t>
            </a:r>
            <a:r>
              <a:rPr lang="en-FI" dirty="0"/>
              <a:t> will help </a:t>
            </a:r>
            <a:r>
              <a:rPr lang="en-FI" dirty="0" err="1"/>
              <a:t>analyze</a:t>
            </a:r>
            <a:r>
              <a:rPr lang="en-FI" dirty="0"/>
              <a:t> team performance dynamics and quantify the exact impact of expected goals (</a:t>
            </a:r>
            <a:r>
              <a:rPr lang="en-FI" dirty="0" err="1"/>
              <a:t>home_xg</a:t>
            </a:r>
            <a:r>
              <a:rPr lang="en-FI" dirty="0"/>
              <a:t>). Then, this context can be used to evaluate results from the match outcome classification model that will be created afterwards.</a:t>
            </a:r>
          </a:p>
        </p:txBody>
      </p:sp>
      <p:sp>
        <p:nvSpPr>
          <p:cNvPr id="190" name="Google Shape;190;p8"/>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dirty="0">
                <a:latin typeface="Google Sans"/>
                <a:ea typeface="Google Sans"/>
                <a:cs typeface="Google Sans"/>
                <a:sym typeface="Google Sans"/>
              </a:rPr>
              <a:t>Executive Summary: Statistical Testing Results</a:t>
            </a:r>
            <a:endParaRPr sz="2100" b="1" dirty="0">
              <a:latin typeface="Google Sans"/>
              <a:ea typeface="Google Sans"/>
              <a:cs typeface="Google Sans"/>
              <a:sym typeface="Google Sans"/>
            </a:endParaRPr>
          </a:p>
        </p:txBody>
      </p:sp>
      <p:sp>
        <p:nvSpPr>
          <p:cNvPr id="191" name="Google Shape;191;p8"/>
          <p:cNvSpPr txBox="1"/>
          <p:nvPr/>
        </p:nvSpPr>
        <p:spPr>
          <a:xfrm>
            <a:off x="1763100" y="948050"/>
            <a:ext cx="4246200" cy="550890"/>
          </a:xfrm>
          <a:prstGeom prst="rect">
            <a:avLst/>
          </a:prstGeom>
          <a:noFill/>
          <a:ln>
            <a:noFill/>
          </a:ln>
        </p:spPr>
        <p:txBody>
          <a:bodyPr spcFirstLastPara="1" wrap="square" lIns="91425" tIns="91425" rIns="91425" bIns="91425" anchor="t" anchorCtr="0">
            <a:spAutoFit/>
          </a:bodyPr>
          <a:lstStyle/>
          <a:p>
            <a:pPr lvl="0" algn="ctr">
              <a:lnSpc>
                <a:spcPct val="115000"/>
              </a:lnSpc>
              <a:spcAft>
                <a:spcPts val="1200"/>
              </a:spcAft>
            </a:pPr>
            <a:r>
              <a:rPr lang="en-FI" sz="1200" dirty="0"/>
              <a:t>Finnish </a:t>
            </a:r>
            <a:r>
              <a:rPr lang="en-FI" sz="1200" dirty="0" err="1"/>
              <a:t>Liiga</a:t>
            </a:r>
            <a:r>
              <a:rPr lang="en-FI" sz="1200" dirty="0"/>
              <a:t> Match Outcome Classification Project</a:t>
            </a:r>
            <a:endParaRPr sz="1200" dirty="0">
              <a:solidFill>
                <a:srgbClr val="000000"/>
              </a:solidFill>
              <a:latin typeface="PT Sans Narrow"/>
              <a:ea typeface="PT Sans Narrow"/>
              <a:cs typeface="PT Sans Narrow"/>
              <a:sym typeface="PT Sans Narrow"/>
            </a:endParaRPr>
          </a:p>
        </p:txBody>
      </p:sp>
      <p:pic>
        <p:nvPicPr>
          <p:cNvPr id="192" name="Google Shape;192;p8"/>
          <p:cNvPicPr preferRelativeResize="0"/>
          <p:nvPr/>
        </p:nvPicPr>
        <p:blipFill>
          <a:blip r:embed="rId3">
            <a:alphaModFix/>
          </a:blip>
          <a:stretch>
            <a:fillRect/>
          </a:stretch>
        </p:blipFill>
        <p:spPr>
          <a:xfrm>
            <a:off x="4177275" y="4986488"/>
            <a:ext cx="3203100" cy="907073"/>
          </a:xfrm>
          <a:prstGeom prst="rect">
            <a:avLst/>
          </a:prstGeom>
          <a:noFill/>
          <a:ln>
            <a:noFill/>
          </a:ln>
        </p:spPr>
      </p:pic>
      <p:sp>
        <p:nvSpPr>
          <p:cNvPr id="193" name="Google Shape;193;p8"/>
          <p:cNvSpPr txBox="1"/>
          <p:nvPr/>
        </p:nvSpPr>
        <p:spPr>
          <a:xfrm>
            <a:off x="3506700" y="3417338"/>
            <a:ext cx="4195500" cy="3631733"/>
          </a:xfrm>
          <a:prstGeom prst="rect">
            <a:avLst/>
          </a:prstGeom>
          <a:noFill/>
          <a:ln>
            <a:noFill/>
          </a:ln>
        </p:spPr>
        <p:txBody>
          <a:bodyPr spcFirstLastPara="1" wrap="square" lIns="91425" tIns="91425" rIns="91425" bIns="91425" anchor="t" anchorCtr="0">
            <a:spAutoFit/>
          </a:bodyPr>
          <a:lstStyle/>
          <a:p>
            <a:pPr lvl="0"/>
            <a:r>
              <a:rPr lang="en-FI" sz="1200" dirty="0"/>
              <a:t>This analysis considered the relationship between </a:t>
            </a:r>
            <a:r>
              <a:rPr lang="en-FI" dirty="0" err="1"/>
              <a:t>home_win</a:t>
            </a:r>
            <a:r>
              <a:rPr lang="en-FI" sz="1200" dirty="0"/>
              <a:t> status and expected goals (</a:t>
            </a:r>
            <a:r>
              <a:rPr lang="en-FI" dirty="0" err="1"/>
              <a:t>home_xg</a:t>
            </a:r>
            <a:r>
              <a:rPr lang="en-FI" sz="1200" dirty="0"/>
              <a:t>).</a:t>
            </a:r>
            <a:endParaRPr lang="ru-RU" sz="1200" dirty="0"/>
          </a:p>
          <a:p>
            <a:pPr lvl="0"/>
            <a:r>
              <a:rPr lang="en-FI" sz="1200" dirty="0"/>
              <a:t>One approach conducted was to examine the mean values of </a:t>
            </a:r>
            <a:r>
              <a:rPr lang="en-FI" dirty="0" err="1"/>
              <a:t>home_xg</a:t>
            </a:r>
            <a:r>
              <a:rPr lang="en-FI" sz="1200" dirty="0"/>
              <a:t> for each group of </a:t>
            </a:r>
            <a:r>
              <a:rPr lang="en-FI" dirty="0" err="1"/>
              <a:t>home_win</a:t>
            </a:r>
            <a:r>
              <a:rPr lang="en-FI" sz="1200" dirty="0"/>
              <a:t> in the sample data. The findings showed that home wins have a mean of </a:t>
            </a:r>
            <a:r>
              <a:rPr lang="en-FI" sz="1200" b="1" dirty="0"/>
              <a:t>2.87</a:t>
            </a:r>
            <a:r>
              <a:rPr lang="en-FI" sz="1200" dirty="0"/>
              <a:t> expected goals vs. </a:t>
            </a:r>
            <a:r>
              <a:rPr lang="en-FI" sz="1200" b="1" dirty="0"/>
              <a:t>2.65</a:t>
            </a:r>
            <a:r>
              <a:rPr lang="en-FI" sz="1200" dirty="0"/>
              <a:t> expected goals for non-home wins (away wins / OT).</a:t>
            </a:r>
            <a:endParaRPr sz="1300" dirty="0">
              <a:solidFill>
                <a:schemeClr val="dk1"/>
              </a:solidFill>
              <a:latin typeface="Google Sans"/>
              <a:ea typeface="Google Sans"/>
              <a:cs typeface="Google Sans"/>
              <a:sym typeface="Google Sans"/>
            </a:endParaRPr>
          </a:p>
          <a:p>
            <a:pPr marL="0" lvl="0" indent="0" algn="l" rtl="0">
              <a:spcBef>
                <a:spcPts val="1000"/>
              </a:spcBef>
              <a:spcAft>
                <a:spcPts val="1000"/>
              </a:spcAft>
              <a:buNone/>
            </a:pPr>
            <a:endParaRPr lang="ru-RU" sz="1300" dirty="0">
              <a:solidFill>
                <a:schemeClr val="dk1"/>
              </a:solidFill>
              <a:latin typeface="Google Sans"/>
              <a:ea typeface="Google Sans"/>
              <a:cs typeface="Google Sans"/>
              <a:sym typeface="Google Sans"/>
            </a:endParaRPr>
          </a:p>
          <a:p>
            <a:pPr marL="0" lvl="0" indent="0" algn="l" rtl="0">
              <a:spcBef>
                <a:spcPts val="1000"/>
              </a:spcBef>
              <a:spcAft>
                <a:spcPts val="1000"/>
              </a:spcAft>
              <a:buNone/>
            </a:pPr>
            <a:endParaRPr lang="ru-RU" sz="1300" dirty="0">
              <a:solidFill>
                <a:schemeClr val="dk1"/>
              </a:solidFill>
              <a:latin typeface="Google Sans"/>
              <a:ea typeface="Google Sans"/>
              <a:cs typeface="Google Sans"/>
              <a:sym typeface="Google Sans"/>
            </a:endParaRPr>
          </a:p>
          <a:p>
            <a:pPr lvl="0">
              <a:spcBef>
                <a:spcPts val="1000"/>
              </a:spcBef>
              <a:spcAft>
                <a:spcPts val="1000"/>
              </a:spcAft>
            </a:pPr>
            <a:r>
              <a:rPr lang="en-FI" sz="1200" dirty="0"/>
              <a:t>The second approach was a two-sample hypothesis test. Aligned with preliminary findings from the mean values, this statistical analysis shows that any observed difference in the sample data is due to an actual difference in the corresponding population means.</a:t>
            </a:r>
            <a:endParaRPr sz="1300" dirty="0">
              <a:solidFill>
                <a:schemeClr val="dk1"/>
              </a:solidFill>
              <a:latin typeface="Google Sans"/>
              <a:ea typeface="Google Sans"/>
              <a:cs typeface="Google Sans"/>
              <a:sym typeface="Google Sans"/>
            </a:endParaRPr>
          </a:p>
        </p:txBody>
      </p:sp>
      <p:pic>
        <p:nvPicPr>
          <p:cNvPr id="7" name="Picture 6">
            <a:extLst>
              <a:ext uri="{FF2B5EF4-FFF2-40B4-BE49-F238E27FC236}">
                <a16:creationId xmlns:a16="http://schemas.microsoft.com/office/drawing/2014/main" id="{8E18B0DF-E8D9-B3E5-CEEB-232903A6F2E1}"/>
              </a:ext>
            </a:extLst>
          </p:cNvPr>
          <p:cNvPicPr>
            <a:picLocks noChangeAspect="1"/>
          </p:cNvPicPr>
          <p:nvPr/>
        </p:nvPicPr>
        <p:blipFill>
          <a:blip r:embed="rId4"/>
          <a:stretch>
            <a:fillRect/>
          </a:stretch>
        </p:blipFill>
        <p:spPr>
          <a:xfrm>
            <a:off x="3506700" y="4986488"/>
            <a:ext cx="3925799" cy="827897"/>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347</Words>
  <Application>Microsoft Office PowerPoint</Application>
  <PresentationFormat>Custom</PresentationFormat>
  <Paragraphs>16</Paragraphs>
  <Slides>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Google Sans</vt:lpstr>
      <vt:lpstr>Calibri</vt:lpstr>
      <vt:lpstr>Google Sans SemiBold</vt:lpstr>
      <vt:lpstr>Work Sans</vt:lpstr>
      <vt:lpstr>Arial</vt:lpstr>
      <vt:lpstr>PT Sans Narrow</vt:lpstr>
      <vt:lpstr>Wingdings</vt:lpstr>
      <vt:lpstr>Roboto</vt:lpstr>
      <vt:lpstr>Lato</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Oksana Kocherzhat</dc:creator>
  <cp:lastModifiedBy>Oksana Kocherzhat</cp:lastModifiedBy>
  <cp:revision>2</cp:revision>
  <dcterms:modified xsi:type="dcterms:W3CDTF">2026-08-16T11:58:50Z</dcterms:modified>
</cp:coreProperties>
</file>